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rimo" panose="020B0604020202020204" pitchFamily="34" charset="0"/>
      <p:regular r:id="rId12"/>
    </p:embeddedFont>
    <p:embeddedFont>
      <p:font typeface="Arimo Bold" panose="020B0704020202020204" pitchFamily="34" charset="0"/>
      <p:regular r:id="rId13"/>
    </p:embeddedFont>
    <p:embeddedFont>
      <p:font typeface="Arimo Italics" panose="020B0604020202090204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gamma.app/?utm_source=made-with-gamma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.png"/><Relationship Id="rId7" Type="http://schemas.openxmlformats.org/officeDocument/2006/relationships/image" Target="../media/image21.sv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1861242"/>
            <a:ext cx="1857527" cy="1687116"/>
            <a:chOff x="0" y="0"/>
            <a:chExt cx="2476703" cy="2249488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76754" cy="2249551"/>
            </a:xfrm>
            <a:custGeom>
              <a:avLst/>
              <a:gdLst/>
              <a:ahLst/>
              <a:cxnLst/>
              <a:rect l="l" t="t" r="r" b="b"/>
              <a:pathLst>
                <a:path w="2476754" h="2249551">
                  <a:moveTo>
                    <a:pt x="0" y="0"/>
                  </a:moveTo>
                  <a:lnTo>
                    <a:pt x="2476754" y="0"/>
                  </a:lnTo>
                  <a:lnTo>
                    <a:pt x="2476754" y="2249551"/>
                  </a:lnTo>
                  <a:lnTo>
                    <a:pt x="0" y="2249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" r="-29" b="2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551044" y="1721053"/>
            <a:ext cx="13156406" cy="1376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79"/>
              </a:lnSpc>
            </a:pPr>
            <a:r>
              <a:rPr lang="en-US" sz="77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PRESIDENCY UNIVERSITY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51044" y="3342827"/>
            <a:ext cx="14668500" cy="406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CCCCCC"/>
                </a:solidFill>
                <a:latin typeface="Arimo"/>
                <a:ea typeface="Arimo"/>
                <a:cs typeface="Arimo"/>
                <a:sym typeface="Arimo"/>
              </a:rPr>
              <a:t>Leading the future of learning and innovation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92238" y="4394302"/>
            <a:ext cx="16303523" cy="21136"/>
            <a:chOff x="0" y="0"/>
            <a:chExt cx="21738031" cy="281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738082" cy="28194"/>
            </a:xfrm>
            <a:custGeom>
              <a:avLst/>
              <a:gdLst/>
              <a:ahLst/>
              <a:cxnLst/>
              <a:rect l="l" t="t" r="r" b="b"/>
              <a:pathLst>
                <a:path w="21738082" h="28194">
                  <a:moveTo>
                    <a:pt x="0" y="0"/>
                  </a:moveTo>
                  <a:lnTo>
                    <a:pt x="21738082" y="0"/>
                  </a:lnTo>
                  <a:lnTo>
                    <a:pt x="21738082" y="28194"/>
                  </a:lnTo>
                  <a:lnTo>
                    <a:pt x="0" y="28194"/>
                  </a:lnTo>
                  <a:close/>
                </a:path>
              </a:pathLst>
            </a:custGeom>
            <a:solidFill>
              <a:srgbClr val="EBEDF0">
                <a:alpha val="24706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92238" y="4805210"/>
            <a:ext cx="16303523" cy="3251892"/>
            <a:chOff x="0" y="0"/>
            <a:chExt cx="21738031" cy="43358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37955" cy="4335780"/>
            </a:xfrm>
            <a:custGeom>
              <a:avLst/>
              <a:gdLst/>
              <a:ahLst/>
              <a:cxnLst/>
              <a:rect l="l" t="t" r="r" b="b"/>
              <a:pathLst>
                <a:path w="21737955" h="4335780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836" y="0"/>
                    <a:pt x="21737955" y="71120"/>
                    <a:pt x="21737955" y="158750"/>
                  </a:cubicBezTo>
                  <a:lnTo>
                    <a:pt x="21737955" y="4177030"/>
                  </a:lnTo>
                  <a:cubicBezTo>
                    <a:pt x="21737955" y="4264660"/>
                    <a:pt x="21666836" y="4335780"/>
                    <a:pt x="21579205" y="4335780"/>
                  </a:cubicBezTo>
                  <a:lnTo>
                    <a:pt x="158750" y="4335780"/>
                  </a:lnTo>
                  <a:cubicBezTo>
                    <a:pt x="71120" y="4335780"/>
                    <a:pt x="0" y="4264660"/>
                    <a:pt x="0" y="4177030"/>
                  </a:cubicBezTo>
                  <a:close/>
                </a:path>
              </a:pathLst>
            </a:custGeom>
            <a:solidFill>
              <a:srgbClr val="00194D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275750" y="5168656"/>
            <a:ext cx="354359" cy="283521"/>
            <a:chOff x="0" y="0"/>
            <a:chExt cx="472478" cy="378028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472440" cy="378079"/>
            </a:xfrm>
            <a:custGeom>
              <a:avLst/>
              <a:gdLst/>
              <a:ahLst/>
              <a:cxnLst/>
              <a:rect l="l" t="t" r="r" b="b"/>
              <a:pathLst>
                <a:path w="472440" h="378079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71" r="-8" b="-655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1913630" y="5054803"/>
            <a:ext cx="15098611" cy="264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79"/>
              </a:lnSpc>
            </a:pPr>
            <a:r>
              <a:rPr lang="en-US" sz="77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AI Climate Risk Intelligence Platform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2238" y="8337947"/>
            <a:ext cx="17217923" cy="406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Course: Computer Science and Technology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7200900" cy="10287000"/>
            <a:chOff x="0" y="0"/>
            <a:chExt cx="96012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03804" y="696811"/>
            <a:ext cx="9538392" cy="1832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8"/>
              </a:lnSpc>
            </a:pPr>
            <a:r>
              <a:rPr lang="en-US" sz="5299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AI Climate Risk Intelligence Platform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03804" y="2897086"/>
            <a:ext cx="10452792" cy="362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2100" i="1">
                <a:solidFill>
                  <a:srgbClr val="EBEDF0"/>
                </a:solidFill>
                <a:latin typeface="Arimo Italics"/>
                <a:ea typeface="Arimo Italics"/>
                <a:cs typeface="Arimo Italics"/>
                <a:sym typeface="Arimo Italics"/>
              </a:rPr>
              <a:t>Predicting Environmental Hazards with Machine Learning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789516" y="3534670"/>
            <a:ext cx="9566967" cy="5993606"/>
            <a:chOff x="0" y="0"/>
            <a:chExt cx="12755956" cy="79914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755880" cy="7991348"/>
            </a:xfrm>
            <a:custGeom>
              <a:avLst/>
              <a:gdLst/>
              <a:ahLst/>
              <a:cxnLst/>
              <a:rect l="l" t="t" r="r" b="b"/>
              <a:pathLst>
                <a:path w="12755880" h="7991348">
                  <a:moveTo>
                    <a:pt x="0" y="152019"/>
                  </a:moveTo>
                  <a:cubicBezTo>
                    <a:pt x="0" y="68072"/>
                    <a:pt x="68072" y="0"/>
                    <a:pt x="152019" y="0"/>
                  </a:cubicBezTo>
                  <a:lnTo>
                    <a:pt x="12603861" y="0"/>
                  </a:lnTo>
                  <a:cubicBezTo>
                    <a:pt x="12687808" y="0"/>
                    <a:pt x="12755880" y="68072"/>
                    <a:pt x="12755880" y="152019"/>
                  </a:cubicBezTo>
                  <a:lnTo>
                    <a:pt x="12755880" y="7839328"/>
                  </a:lnTo>
                  <a:cubicBezTo>
                    <a:pt x="12755880" y="7923276"/>
                    <a:pt x="12687808" y="7991348"/>
                    <a:pt x="12603861" y="7991348"/>
                  </a:cubicBezTo>
                  <a:lnTo>
                    <a:pt x="152019" y="7991348"/>
                  </a:lnTo>
                  <a:cubicBezTo>
                    <a:pt x="68072" y="7991475"/>
                    <a:pt x="0" y="7923403"/>
                    <a:pt x="0" y="7839456"/>
                  </a:cubicBezTo>
                  <a:close/>
                </a:path>
              </a:pathLst>
            </a:custGeom>
            <a:solidFill>
              <a:srgbClr val="101620"/>
            </a:solidFill>
            <a:ln w="28576" cap="sq">
              <a:solidFill>
                <a:srgbClr val="002A80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832379" y="3577533"/>
            <a:ext cx="9481242" cy="1476966"/>
            <a:chOff x="0" y="0"/>
            <a:chExt cx="12641656" cy="196928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641707" cy="1969262"/>
            </a:xfrm>
            <a:custGeom>
              <a:avLst/>
              <a:gdLst/>
              <a:ahLst/>
              <a:cxnLst/>
              <a:rect l="l" t="t" r="r" b="b"/>
              <a:pathLst>
                <a:path w="12641707" h="1969262">
                  <a:moveTo>
                    <a:pt x="0" y="0"/>
                  </a:moveTo>
                  <a:lnTo>
                    <a:pt x="12641707" y="0"/>
                  </a:lnTo>
                  <a:lnTo>
                    <a:pt x="12641707" y="1969262"/>
                  </a:lnTo>
                  <a:lnTo>
                    <a:pt x="0" y="1969262"/>
                  </a:lnTo>
                  <a:close/>
                </a:path>
              </a:pathLst>
            </a:custGeom>
            <a:solidFill>
              <a:srgbClr val="101620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8102498" y="3809552"/>
            <a:ext cx="3377956" cy="477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Mohamed Fahad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02498" y="4422277"/>
            <a:ext cx="8940994" cy="362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20241CSG0033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832379" y="5054498"/>
            <a:ext cx="9481242" cy="1476966"/>
            <a:chOff x="0" y="0"/>
            <a:chExt cx="12641656" cy="19692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641707" cy="1969262"/>
            </a:xfrm>
            <a:custGeom>
              <a:avLst/>
              <a:gdLst/>
              <a:ahLst/>
              <a:cxnLst/>
              <a:rect l="l" t="t" r="r" b="b"/>
              <a:pathLst>
                <a:path w="12641707" h="1969262">
                  <a:moveTo>
                    <a:pt x="0" y="0"/>
                  </a:moveTo>
                  <a:lnTo>
                    <a:pt x="12641707" y="0"/>
                  </a:lnTo>
                  <a:lnTo>
                    <a:pt x="12641707" y="1969262"/>
                  </a:lnTo>
                  <a:lnTo>
                    <a:pt x="0" y="1969262"/>
                  </a:lnTo>
                  <a:close/>
                </a:path>
              </a:pathLst>
            </a:custGeom>
            <a:solidFill>
              <a:srgbClr val="10162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7832379" y="5054498"/>
            <a:ext cx="9481242" cy="38100"/>
            <a:chOff x="0" y="0"/>
            <a:chExt cx="12641656" cy="50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641707" cy="50800"/>
            </a:xfrm>
            <a:custGeom>
              <a:avLst/>
              <a:gdLst/>
              <a:ahLst/>
              <a:cxnLst/>
              <a:rect l="l" t="t" r="r" b="b"/>
              <a:pathLst>
                <a:path w="12641707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616307" y="0"/>
                  </a:lnTo>
                  <a:cubicBezTo>
                    <a:pt x="12630276" y="0"/>
                    <a:pt x="12641707" y="11430"/>
                    <a:pt x="12641707" y="25400"/>
                  </a:cubicBezTo>
                  <a:cubicBezTo>
                    <a:pt x="12641707" y="39370"/>
                    <a:pt x="12630276" y="50800"/>
                    <a:pt x="12616307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002A80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8102498" y="5286527"/>
            <a:ext cx="4068213" cy="477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Mohammed Rayyan Ilyas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02498" y="5899252"/>
            <a:ext cx="8940994" cy="362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20241CSG0032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832379" y="6531473"/>
            <a:ext cx="9481242" cy="1476966"/>
            <a:chOff x="0" y="0"/>
            <a:chExt cx="12641656" cy="196928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641707" cy="1969262"/>
            </a:xfrm>
            <a:custGeom>
              <a:avLst/>
              <a:gdLst/>
              <a:ahLst/>
              <a:cxnLst/>
              <a:rect l="l" t="t" r="r" b="b"/>
              <a:pathLst>
                <a:path w="12641707" h="1969262">
                  <a:moveTo>
                    <a:pt x="0" y="0"/>
                  </a:moveTo>
                  <a:lnTo>
                    <a:pt x="12641707" y="0"/>
                  </a:lnTo>
                  <a:lnTo>
                    <a:pt x="12641707" y="1969262"/>
                  </a:lnTo>
                  <a:lnTo>
                    <a:pt x="0" y="1969262"/>
                  </a:lnTo>
                  <a:close/>
                </a:path>
              </a:pathLst>
            </a:custGeom>
            <a:solidFill>
              <a:srgbClr val="101620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7832379" y="6531473"/>
            <a:ext cx="9481242" cy="38100"/>
            <a:chOff x="0" y="0"/>
            <a:chExt cx="12641656" cy="50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641707" cy="50800"/>
            </a:xfrm>
            <a:custGeom>
              <a:avLst/>
              <a:gdLst/>
              <a:ahLst/>
              <a:cxnLst/>
              <a:rect l="l" t="t" r="r" b="b"/>
              <a:pathLst>
                <a:path w="12641707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616307" y="0"/>
                  </a:lnTo>
                  <a:cubicBezTo>
                    <a:pt x="12630276" y="0"/>
                    <a:pt x="12641707" y="11430"/>
                    <a:pt x="12641707" y="25400"/>
                  </a:cubicBezTo>
                  <a:cubicBezTo>
                    <a:pt x="12641707" y="39370"/>
                    <a:pt x="12630276" y="50800"/>
                    <a:pt x="12616307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002A80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8102498" y="6763493"/>
            <a:ext cx="3377956" cy="477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Course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02498" y="7376217"/>
            <a:ext cx="8940994" cy="362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Computer Science and Technology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832379" y="8008439"/>
            <a:ext cx="9481242" cy="1476966"/>
            <a:chOff x="0" y="0"/>
            <a:chExt cx="12641656" cy="196928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641707" cy="1969262"/>
            </a:xfrm>
            <a:custGeom>
              <a:avLst/>
              <a:gdLst/>
              <a:ahLst/>
              <a:cxnLst/>
              <a:rect l="l" t="t" r="r" b="b"/>
              <a:pathLst>
                <a:path w="12641707" h="1969262">
                  <a:moveTo>
                    <a:pt x="0" y="0"/>
                  </a:moveTo>
                  <a:lnTo>
                    <a:pt x="12641707" y="0"/>
                  </a:lnTo>
                  <a:lnTo>
                    <a:pt x="12641707" y="1969262"/>
                  </a:lnTo>
                  <a:lnTo>
                    <a:pt x="0" y="1969262"/>
                  </a:lnTo>
                  <a:close/>
                </a:path>
              </a:pathLst>
            </a:custGeom>
            <a:solidFill>
              <a:srgbClr val="101620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7832379" y="8008439"/>
            <a:ext cx="9481242" cy="38100"/>
            <a:chOff x="0" y="0"/>
            <a:chExt cx="12641656" cy="50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641707" cy="50800"/>
            </a:xfrm>
            <a:custGeom>
              <a:avLst/>
              <a:gdLst/>
              <a:ahLst/>
              <a:cxnLst/>
              <a:rect l="l" t="t" r="r" b="b"/>
              <a:pathLst>
                <a:path w="12641707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616307" y="0"/>
                  </a:lnTo>
                  <a:cubicBezTo>
                    <a:pt x="12630276" y="0"/>
                    <a:pt x="12641707" y="11430"/>
                    <a:pt x="12641707" y="25400"/>
                  </a:cubicBezTo>
                  <a:cubicBezTo>
                    <a:pt x="12641707" y="39370"/>
                    <a:pt x="12630276" y="50800"/>
                    <a:pt x="12616307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002A80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8102498" y="8240468"/>
            <a:ext cx="3377956" cy="477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Date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02498" y="8853192"/>
            <a:ext cx="8940994" cy="362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12 June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087100" y="0"/>
            <a:ext cx="7200900" cy="10287000"/>
            <a:chOff x="0" y="0"/>
            <a:chExt cx="96012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852783" y="626869"/>
            <a:ext cx="7005933" cy="858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1"/>
              </a:lnSpc>
            </a:pPr>
            <a:r>
              <a:rPr lang="en-US" sz="47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The Problem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2783" y="1780280"/>
            <a:ext cx="9724434" cy="902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9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Climate-related hazards are increasing globally at an unprecedented rate. Emergency services, agriculture, and critical infrastructure need </a:t>
            </a:r>
            <a:r>
              <a:rPr lang="en-US" sz="19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real-time risk intelligence</a:t>
            </a:r>
            <a:r>
              <a:rPr lang="en-US" sz="19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— yet existing tools are too complex, slow, or not AI-powered to respond effectively.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824208" y="2917927"/>
            <a:ext cx="9753000" cy="1664341"/>
          </a:xfrm>
          <a:custGeom>
            <a:avLst/>
            <a:gdLst/>
            <a:ahLst/>
            <a:cxnLst/>
            <a:rect l="l" t="t" r="r" b="b"/>
            <a:pathLst>
              <a:path w="9753000" h="1664341">
                <a:moveTo>
                  <a:pt x="0" y="0"/>
                </a:moveTo>
                <a:lnTo>
                  <a:pt x="9753000" y="0"/>
                </a:lnTo>
                <a:lnTo>
                  <a:pt x="9753000" y="1664341"/>
                </a:lnTo>
                <a:lnTo>
                  <a:pt x="0" y="16643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73" b="-72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10713" y="3152032"/>
            <a:ext cx="3045771" cy="44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3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🌍</a:t>
            </a:r>
            <a:r>
              <a:rPr lang="en-US" sz="23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 Growing Threat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0713" y="3702244"/>
            <a:ext cx="9094289" cy="607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9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Climate-related hazards are increasing globally, putting lives and livelihoods at greater risk every year.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824208" y="4791523"/>
            <a:ext cx="9753000" cy="1664341"/>
          </a:xfrm>
          <a:custGeom>
            <a:avLst/>
            <a:gdLst/>
            <a:ahLst/>
            <a:cxnLst/>
            <a:rect l="l" t="t" r="r" b="b"/>
            <a:pathLst>
              <a:path w="9753000" h="1664341">
                <a:moveTo>
                  <a:pt x="0" y="0"/>
                </a:moveTo>
                <a:lnTo>
                  <a:pt x="9753000" y="0"/>
                </a:lnTo>
                <a:lnTo>
                  <a:pt x="9753000" y="1664341"/>
                </a:lnTo>
                <a:lnTo>
                  <a:pt x="0" y="16643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73" b="-72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210713" y="5025628"/>
            <a:ext cx="3045771" cy="44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3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⚡</a:t>
            </a:r>
            <a:r>
              <a:rPr lang="en-US" sz="23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 Urgent Need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0713" y="5575849"/>
            <a:ext cx="9094289" cy="607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9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Emergency services, agriculture, and infrastructure need </a:t>
            </a:r>
            <a:r>
              <a:rPr lang="en-US" sz="19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real-time risk intelligence</a:t>
            </a:r>
            <a:r>
              <a:rPr lang="en-US" sz="19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to act before disasters strike.</a:t>
            </a:r>
          </a:p>
        </p:txBody>
      </p:sp>
      <p:sp>
        <p:nvSpPr>
          <p:cNvPr id="18" name="Freeform 18" descr="preencoded.png"/>
          <p:cNvSpPr/>
          <p:nvPr/>
        </p:nvSpPr>
        <p:spPr>
          <a:xfrm>
            <a:off x="824208" y="6665119"/>
            <a:ext cx="9753000" cy="1664341"/>
          </a:xfrm>
          <a:custGeom>
            <a:avLst/>
            <a:gdLst/>
            <a:ahLst/>
            <a:cxnLst/>
            <a:rect l="l" t="t" r="r" b="b"/>
            <a:pathLst>
              <a:path w="9753000" h="1664341">
                <a:moveTo>
                  <a:pt x="0" y="0"/>
                </a:moveTo>
                <a:lnTo>
                  <a:pt x="9753000" y="0"/>
                </a:lnTo>
                <a:lnTo>
                  <a:pt x="9753000" y="1664341"/>
                </a:lnTo>
                <a:lnTo>
                  <a:pt x="0" y="16643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73" b="-72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210713" y="6899224"/>
            <a:ext cx="3045771" cy="44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3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🔧</a:t>
            </a:r>
            <a:r>
              <a:rPr lang="en-US" sz="23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 The Gap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0713" y="7449445"/>
            <a:ext cx="9094289" cy="607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9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Existing tools are too complex or not AI-powered — they cannot translate raw data into actionable decisions fast enough.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52783" y="8564909"/>
            <a:ext cx="9724434" cy="792956"/>
            <a:chOff x="0" y="0"/>
            <a:chExt cx="12965913" cy="105727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965811" cy="1057275"/>
            </a:xfrm>
            <a:custGeom>
              <a:avLst/>
              <a:gdLst/>
              <a:ahLst/>
              <a:cxnLst/>
              <a:rect l="l" t="t" r="r" b="b"/>
              <a:pathLst>
                <a:path w="12965811" h="1057275">
                  <a:moveTo>
                    <a:pt x="0" y="136398"/>
                  </a:moveTo>
                  <a:cubicBezTo>
                    <a:pt x="0" y="61087"/>
                    <a:pt x="61087" y="0"/>
                    <a:pt x="136398" y="0"/>
                  </a:cubicBezTo>
                  <a:lnTo>
                    <a:pt x="12829413" y="0"/>
                  </a:lnTo>
                  <a:cubicBezTo>
                    <a:pt x="12904724" y="0"/>
                    <a:pt x="12965811" y="61087"/>
                    <a:pt x="12965811" y="136398"/>
                  </a:cubicBezTo>
                  <a:lnTo>
                    <a:pt x="12965811" y="920877"/>
                  </a:lnTo>
                  <a:cubicBezTo>
                    <a:pt x="12965811" y="996188"/>
                    <a:pt x="12904724" y="1057275"/>
                    <a:pt x="12829413" y="1057275"/>
                  </a:cubicBezTo>
                  <a:lnTo>
                    <a:pt x="136398" y="1057275"/>
                  </a:lnTo>
                  <a:cubicBezTo>
                    <a:pt x="61087" y="1057275"/>
                    <a:pt x="0" y="996188"/>
                    <a:pt x="0" y="920877"/>
                  </a:cubicBezTo>
                  <a:close/>
                </a:path>
              </a:pathLst>
            </a:custGeom>
            <a:solidFill>
              <a:srgbClr val="022349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096413" y="8869413"/>
            <a:ext cx="304505" cy="243630"/>
            <a:chOff x="0" y="0"/>
            <a:chExt cx="406006" cy="324841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406019" cy="324866"/>
            </a:xfrm>
            <a:custGeom>
              <a:avLst/>
              <a:gdLst/>
              <a:ahLst/>
              <a:cxnLst/>
              <a:rect l="l" t="t" r="r" b="b"/>
              <a:pathLst>
                <a:path w="406019" h="324866">
                  <a:moveTo>
                    <a:pt x="0" y="0"/>
                  </a:moveTo>
                  <a:lnTo>
                    <a:pt x="406019" y="0"/>
                  </a:lnTo>
                  <a:lnTo>
                    <a:pt x="406019" y="324866"/>
                  </a:lnTo>
                  <a:lnTo>
                    <a:pt x="0" y="324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774" r="3" b="-770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1644548" y="8795147"/>
            <a:ext cx="9603429" cy="31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9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Goal:</a:t>
            </a:r>
            <a:r>
              <a:rPr lang="en-US" sz="19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Turn raw weather data into an instant, actionable hazard score.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372343"/>
            <a:ext cx="9186567" cy="1007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sz="55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What the Platform Does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238" y="2946502"/>
            <a:ext cx="567033" cy="567033"/>
          </a:xfrm>
          <a:custGeom>
            <a:avLst/>
            <a:gdLst/>
            <a:ahLst/>
            <a:cxnLst/>
            <a:rect l="l" t="t" r="r" b="b"/>
            <a:pathLst>
              <a:path w="567033" h="567033">
                <a:moveTo>
                  <a:pt x="0" y="0"/>
                </a:moveTo>
                <a:lnTo>
                  <a:pt x="567033" y="0"/>
                </a:lnTo>
                <a:lnTo>
                  <a:pt x="567033" y="567032"/>
                </a:lnTo>
                <a:lnTo>
                  <a:pt x="0" y="5670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7500" b="-7500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92238" y="3829793"/>
            <a:ext cx="4042620" cy="498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Massive Data Ingestion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4460529"/>
            <a:ext cx="5198269" cy="775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Ingests </a:t>
            </a:r>
            <a:r>
              <a:rPr lang="en-US" sz="22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533,312 real meteorological records</a:t>
            </a: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for training and prediction.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6544866" y="2946502"/>
            <a:ext cx="567033" cy="567033"/>
          </a:xfrm>
          <a:custGeom>
            <a:avLst/>
            <a:gdLst/>
            <a:ahLst/>
            <a:cxnLst/>
            <a:rect l="l" t="t" r="r" b="b"/>
            <a:pathLst>
              <a:path w="567033" h="567033">
                <a:moveTo>
                  <a:pt x="0" y="0"/>
                </a:moveTo>
                <a:lnTo>
                  <a:pt x="567032" y="0"/>
                </a:lnTo>
                <a:lnTo>
                  <a:pt x="567032" y="567032"/>
                </a:lnTo>
                <a:lnTo>
                  <a:pt x="0" y="5670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3332" b="-3334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544866" y="3829793"/>
            <a:ext cx="4705350" cy="498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Automated ML Comparison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44866" y="4460529"/>
            <a:ext cx="5198269" cy="114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Trains and compares </a:t>
            </a:r>
            <a:r>
              <a:rPr lang="en-US" sz="22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3 ML models</a:t>
            </a: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automatically to select the best performer.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2097493" y="2946502"/>
            <a:ext cx="567033" cy="567033"/>
          </a:xfrm>
          <a:custGeom>
            <a:avLst/>
            <a:gdLst/>
            <a:ahLst/>
            <a:cxnLst/>
            <a:rect l="l" t="t" r="r" b="b"/>
            <a:pathLst>
              <a:path w="567033" h="567033">
                <a:moveTo>
                  <a:pt x="0" y="0"/>
                </a:moveTo>
                <a:lnTo>
                  <a:pt x="567033" y="0"/>
                </a:lnTo>
                <a:lnTo>
                  <a:pt x="567033" y="567032"/>
                </a:lnTo>
                <a:lnTo>
                  <a:pt x="0" y="5670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66" r="-9166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097493" y="3829793"/>
            <a:ext cx="3544043" cy="498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Risk Score Output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97493" y="4460529"/>
            <a:ext cx="5198269" cy="775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Outputs a </a:t>
            </a:r>
            <a:r>
              <a:rPr lang="en-US" sz="22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Climate Hazard Risk Score (0–100)</a:t>
            </a: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from 7 weather inputs.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992238" y="6171162"/>
            <a:ext cx="567033" cy="567033"/>
          </a:xfrm>
          <a:custGeom>
            <a:avLst/>
            <a:gdLst/>
            <a:ahLst/>
            <a:cxnLst/>
            <a:rect l="l" t="t" r="r" b="b"/>
            <a:pathLst>
              <a:path w="567033" h="567033">
                <a:moveTo>
                  <a:pt x="0" y="0"/>
                </a:moveTo>
                <a:lnTo>
                  <a:pt x="567033" y="0"/>
                </a:lnTo>
                <a:lnTo>
                  <a:pt x="567033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2499" r="-12501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92238" y="7054453"/>
            <a:ext cx="3544043" cy="498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5-Day Forecast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2238" y="7685189"/>
            <a:ext cx="5198269" cy="114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Provides a </a:t>
            </a:r>
            <a:r>
              <a:rPr lang="en-US" sz="22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5-Day Forecast</a:t>
            </a: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with predicted risk trends for proactive planning.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6544866" y="6171162"/>
            <a:ext cx="567033" cy="567033"/>
          </a:xfrm>
          <a:custGeom>
            <a:avLst/>
            <a:gdLst/>
            <a:ahLst/>
            <a:cxnLst/>
            <a:rect l="l" t="t" r="r" b="b"/>
            <a:pathLst>
              <a:path w="567033" h="567033">
                <a:moveTo>
                  <a:pt x="0" y="0"/>
                </a:moveTo>
                <a:lnTo>
                  <a:pt x="567032" y="0"/>
                </a:lnTo>
                <a:lnTo>
                  <a:pt x="567032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27499" b="-27501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544866" y="7054453"/>
            <a:ext cx="3582143" cy="498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Accessible Interface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44866" y="7685189"/>
            <a:ext cx="5198269" cy="775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Accessible via a secure, role-based </a:t>
            </a:r>
            <a:r>
              <a:rPr lang="en-US" sz="22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web dashboard + mobile-ready PWA</a:t>
            </a: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4695" y="687886"/>
            <a:ext cx="15167372" cy="925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9"/>
              </a:lnSpc>
            </a:pPr>
            <a:r>
              <a:rPr lang="en-US" sz="51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Parameters Used to Calculate the Risk Index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695" y="2085975"/>
            <a:ext cx="16458600" cy="662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The platform uses </a:t>
            </a:r>
            <a:r>
              <a:rPr lang="en-US" sz="20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7 meteorological parameters</a:t>
            </a: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as inputs to the ML model. Wind Speed dominates as the primary risk driver, contributing over 85% of the model's predictive power.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09933" y="3014510"/>
            <a:ext cx="16468134" cy="5237559"/>
            <a:chOff x="0" y="0"/>
            <a:chExt cx="21957513" cy="69834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57539" cy="6983476"/>
            </a:xfrm>
            <a:custGeom>
              <a:avLst/>
              <a:gdLst/>
              <a:ahLst/>
              <a:cxnLst/>
              <a:rect l="l" t="t" r="r" b="b"/>
              <a:pathLst>
                <a:path w="21957539" h="6983476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21810853" y="0"/>
                  </a:lnTo>
                  <a:cubicBezTo>
                    <a:pt x="21891879" y="0"/>
                    <a:pt x="21957539" y="65659"/>
                    <a:pt x="21957539" y="146685"/>
                  </a:cubicBezTo>
                  <a:lnTo>
                    <a:pt x="21957539" y="6836791"/>
                  </a:lnTo>
                  <a:cubicBezTo>
                    <a:pt x="21957539" y="6917817"/>
                    <a:pt x="21891879" y="6983476"/>
                    <a:pt x="21810853" y="6983476"/>
                  </a:cubicBezTo>
                  <a:lnTo>
                    <a:pt x="146685" y="6983476"/>
                  </a:lnTo>
                  <a:cubicBezTo>
                    <a:pt x="65659" y="6983476"/>
                    <a:pt x="0" y="6917817"/>
                    <a:pt x="0" y="683679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265" b="-11264"/>
              </a:stretch>
            </a:blip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185567" y="3173311"/>
            <a:ext cx="4496838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Parameter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00215" y="3173311"/>
            <a:ext cx="2848127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Unit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66152" y="3173311"/>
            <a:ext cx="6958012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Role in Risk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341973" y="3173311"/>
            <a:ext cx="3674859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Importance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5567" y="3817296"/>
            <a:ext cx="4496838" cy="34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💨</a:t>
            </a: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Wind Speed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00215" y="3817296"/>
            <a:ext cx="2848127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km/h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66152" y="3817296"/>
            <a:ext cx="6958012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Primary driver — high winds = storm/cyclone risk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341973" y="3817296"/>
            <a:ext cx="3674859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 b="1">
                <a:solidFill>
                  <a:srgbClr val="FF6BD8"/>
                </a:solidFill>
                <a:latin typeface="Arimo Bold"/>
                <a:ea typeface="Arimo Bold"/>
                <a:cs typeface="Arimo Bold"/>
                <a:sym typeface="Arimo Bold"/>
              </a:rPr>
              <a:t>85.6%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85567" y="4470797"/>
            <a:ext cx="4496838" cy="34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☀️</a:t>
            </a: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Global Solar Radiation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00215" y="4470797"/>
            <a:ext cx="2848127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W/m²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66152" y="4470797"/>
            <a:ext cx="6958012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Heat stress &amp; drought risk indicator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341973" y="4470797"/>
            <a:ext cx="3674859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9.4%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85567" y="5124298"/>
            <a:ext cx="4496838" cy="34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🌡️</a:t>
            </a: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Min Temperature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300215" y="5124298"/>
            <a:ext cx="2848127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°C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66152" y="5124298"/>
            <a:ext cx="6958012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Frost &amp; cold-wave hazard detection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41973" y="5124298"/>
            <a:ext cx="3674859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2.0%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5567" y="5777808"/>
            <a:ext cx="4496838" cy="34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🌡️</a:t>
            </a: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Max Temperature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300215" y="5777808"/>
            <a:ext cx="2848127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°C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66152" y="5777808"/>
            <a:ext cx="6958012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Heatwave &amp; wildfire risk signal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341973" y="5777808"/>
            <a:ext cx="3674859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1.4%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85567" y="6431309"/>
            <a:ext cx="4496838" cy="34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🌡️</a:t>
            </a: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Mean Temperature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300215" y="6431309"/>
            <a:ext cx="2848127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°C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66152" y="6431309"/>
            <a:ext cx="6958012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Overall thermal condition of the day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341973" y="6431309"/>
            <a:ext cx="3674859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0.7%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85567" y="7084819"/>
            <a:ext cx="4496838" cy="34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🌀</a:t>
            </a: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Atmospheric Pressure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300215" y="7084819"/>
            <a:ext cx="2848127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hPa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766152" y="7084819"/>
            <a:ext cx="6958012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Low pressure = storm system approaching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341973" y="7084819"/>
            <a:ext cx="3674859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0.9%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85567" y="7738320"/>
            <a:ext cx="4496838" cy="34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🧭</a:t>
            </a: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Wind Bearing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300215" y="7738320"/>
            <a:ext cx="2848127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degrees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766152" y="7738320"/>
            <a:ext cx="6958012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Wind direction — affects storm path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341973" y="7738320"/>
            <a:ext cx="3674859" cy="33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0.04%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900408" y="8504034"/>
            <a:ext cx="16487184" cy="1033015"/>
            <a:chOff x="0" y="0"/>
            <a:chExt cx="21982913" cy="137735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1982810" cy="1377315"/>
            </a:xfrm>
            <a:custGeom>
              <a:avLst/>
              <a:gdLst/>
              <a:ahLst/>
              <a:cxnLst/>
              <a:rect l="l" t="t" r="r" b="b"/>
              <a:pathLst>
                <a:path w="21982810" h="1377315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21832315" y="0"/>
                  </a:lnTo>
                  <a:cubicBezTo>
                    <a:pt x="21915501" y="0"/>
                    <a:pt x="21982810" y="67437"/>
                    <a:pt x="21982810" y="150495"/>
                  </a:cubicBezTo>
                  <a:lnTo>
                    <a:pt x="21982810" y="1226820"/>
                  </a:lnTo>
                  <a:cubicBezTo>
                    <a:pt x="21982810" y="1310005"/>
                    <a:pt x="21915374" y="1377315"/>
                    <a:pt x="21832315" y="1377315"/>
                  </a:cubicBezTo>
                  <a:lnTo>
                    <a:pt x="150495" y="1377315"/>
                  </a:lnTo>
                  <a:cubicBezTo>
                    <a:pt x="67437" y="1377315"/>
                    <a:pt x="0" y="1310005"/>
                    <a:pt x="0" y="1226820"/>
                  </a:cubicBezTo>
                  <a:close/>
                </a:path>
              </a:pathLst>
            </a:custGeom>
            <a:solidFill>
              <a:srgbClr val="101620"/>
            </a:solidFill>
            <a:ln w="28576" cap="sq">
              <a:solidFill>
                <a:srgbClr val="002A80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943270" y="8546906"/>
            <a:ext cx="5467055" cy="947290"/>
            <a:chOff x="0" y="0"/>
            <a:chExt cx="7289406" cy="126305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289419" cy="1263015"/>
            </a:xfrm>
            <a:custGeom>
              <a:avLst/>
              <a:gdLst/>
              <a:ahLst/>
              <a:cxnLst/>
              <a:rect l="l" t="t" r="r" b="b"/>
              <a:pathLst>
                <a:path w="7289419" h="1263015">
                  <a:moveTo>
                    <a:pt x="0" y="0"/>
                  </a:moveTo>
                  <a:lnTo>
                    <a:pt x="7289419" y="0"/>
                  </a:lnTo>
                  <a:lnTo>
                    <a:pt x="7289419" y="1263015"/>
                  </a:lnTo>
                  <a:lnTo>
                    <a:pt x="0" y="1263015"/>
                  </a:lnTo>
                  <a:close/>
                </a:path>
              </a:pathLst>
            </a:custGeom>
            <a:solidFill>
              <a:srgbClr val="101620"/>
            </a:solidFill>
          </p:spPr>
        </p:sp>
      </p:grpSp>
      <p:sp>
        <p:nvSpPr>
          <p:cNvPr id="46" name="TextBox 46"/>
          <p:cNvSpPr txBox="1"/>
          <p:nvPr/>
        </p:nvSpPr>
        <p:spPr>
          <a:xfrm>
            <a:off x="1204617" y="8770144"/>
            <a:ext cx="3267227" cy="462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🟢</a:t>
            </a:r>
            <a:r>
              <a:rPr lang="en-US" sz="2499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 0–33 · Low Risk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6410325" y="8546906"/>
            <a:ext cx="5467198" cy="947290"/>
            <a:chOff x="0" y="0"/>
            <a:chExt cx="7289597" cy="1263053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289546" cy="1263015"/>
            </a:xfrm>
            <a:custGeom>
              <a:avLst/>
              <a:gdLst/>
              <a:ahLst/>
              <a:cxnLst/>
              <a:rect l="l" t="t" r="r" b="b"/>
              <a:pathLst>
                <a:path w="7289546" h="1263015">
                  <a:moveTo>
                    <a:pt x="0" y="0"/>
                  </a:moveTo>
                  <a:lnTo>
                    <a:pt x="7289546" y="0"/>
                  </a:lnTo>
                  <a:lnTo>
                    <a:pt x="7289546" y="1263015"/>
                  </a:lnTo>
                  <a:lnTo>
                    <a:pt x="0" y="1263015"/>
                  </a:lnTo>
                  <a:close/>
                </a:path>
              </a:pathLst>
            </a:custGeom>
            <a:solidFill>
              <a:srgbClr val="101620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6410325" y="8546906"/>
            <a:ext cx="28575" cy="947290"/>
            <a:chOff x="0" y="0"/>
            <a:chExt cx="38100" cy="126305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8100" cy="1263015"/>
            </a:xfrm>
            <a:custGeom>
              <a:avLst/>
              <a:gdLst/>
              <a:ahLst/>
              <a:cxnLst/>
              <a:rect l="l" t="t" r="r" b="b"/>
              <a:pathLst>
                <a:path w="38100" h="1263015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243965"/>
                  </a:lnTo>
                  <a:cubicBezTo>
                    <a:pt x="38100" y="1254506"/>
                    <a:pt x="29591" y="1263015"/>
                    <a:pt x="19050" y="1263015"/>
                  </a:cubicBezTo>
                  <a:cubicBezTo>
                    <a:pt x="8509" y="1263015"/>
                    <a:pt x="0" y="1254506"/>
                    <a:pt x="0" y="1243965"/>
                  </a:cubicBezTo>
                  <a:close/>
                </a:path>
              </a:pathLst>
            </a:custGeom>
            <a:solidFill>
              <a:srgbClr val="002A80"/>
            </a:solidFill>
          </p:spPr>
        </p:sp>
      </p:grpSp>
      <p:sp>
        <p:nvSpPr>
          <p:cNvPr id="51" name="TextBox 51"/>
          <p:cNvSpPr txBox="1"/>
          <p:nvPr/>
        </p:nvSpPr>
        <p:spPr>
          <a:xfrm>
            <a:off x="6671672" y="8770144"/>
            <a:ext cx="4061517" cy="462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🟡</a:t>
            </a:r>
            <a:r>
              <a:rPr lang="en-US" sz="2499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 34–66 · Moderate Risk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1877523" y="8546906"/>
            <a:ext cx="5467055" cy="947290"/>
            <a:chOff x="0" y="0"/>
            <a:chExt cx="7289406" cy="1263053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289419" cy="1263015"/>
            </a:xfrm>
            <a:custGeom>
              <a:avLst/>
              <a:gdLst/>
              <a:ahLst/>
              <a:cxnLst/>
              <a:rect l="l" t="t" r="r" b="b"/>
              <a:pathLst>
                <a:path w="7289419" h="1263015">
                  <a:moveTo>
                    <a:pt x="0" y="0"/>
                  </a:moveTo>
                  <a:lnTo>
                    <a:pt x="7289419" y="0"/>
                  </a:lnTo>
                  <a:lnTo>
                    <a:pt x="7289419" y="1263015"/>
                  </a:lnTo>
                  <a:lnTo>
                    <a:pt x="0" y="1263015"/>
                  </a:lnTo>
                  <a:close/>
                </a:path>
              </a:pathLst>
            </a:custGeom>
            <a:solidFill>
              <a:srgbClr val="101620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1877523" y="8546906"/>
            <a:ext cx="28575" cy="947290"/>
            <a:chOff x="0" y="0"/>
            <a:chExt cx="38100" cy="1263053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8100" cy="1263015"/>
            </a:xfrm>
            <a:custGeom>
              <a:avLst/>
              <a:gdLst/>
              <a:ahLst/>
              <a:cxnLst/>
              <a:rect l="l" t="t" r="r" b="b"/>
              <a:pathLst>
                <a:path w="38100" h="1263015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243965"/>
                  </a:lnTo>
                  <a:cubicBezTo>
                    <a:pt x="38100" y="1254506"/>
                    <a:pt x="29591" y="1263015"/>
                    <a:pt x="19050" y="1263015"/>
                  </a:cubicBezTo>
                  <a:cubicBezTo>
                    <a:pt x="8509" y="1263015"/>
                    <a:pt x="0" y="1254506"/>
                    <a:pt x="0" y="1243965"/>
                  </a:cubicBezTo>
                  <a:close/>
                </a:path>
              </a:pathLst>
            </a:custGeom>
            <a:solidFill>
              <a:srgbClr val="002A80"/>
            </a:solidFill>
          </p:spPr>
        </p:sp>
      </p:grpSp>
      <p:sp>
        <p:nvSpPr>
          <p:cNvPr id="56" name="TextBox 56"/>
          <p:cNvSpPr txBox="1"/>
          <p:nvPr/>
        </p:nvSpPr>
        <p:spPr>
          <a:xfrm>
            <a:off x="12138870" y="8770144"/>
            <a:ext cx="3379441" cy="462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🔴</a:t>
            </a:r>
            <a:r>
              <a:rPr lang="en-US" sz="2499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 67–100 · High Risk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348978" y="612724"/>
            <a:ext cx="7422061" cy="800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2"/>
              </a:lnSpc>
            </a:pPr>
            <a:r>
              <a:rPr lang="en-US" sz="44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Dataset &amp; Data Pipeline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48978" y="2671610"/>
            <a:ext cx="4052735" cy="40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Data Processing Steps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44216" y="3274514"/>
            <a:ext cx="7528770" cy="3595097"/>
            <a:chOff x="0" y="0"/>
            <a:chExt cx="10038359" cy="479346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38334" cy="4793488"/>
            </a:xfrm>
            <a:custGeom>
              <a:avLst/>
              <a:gdLst/>
              <a:ahLst/>
              <a:cxnLst/>
              <a:rect l="l" t="t" r="r" b="b"/>
              <a:pathLst>
                <a:path w="10038334" h="4793488">
                  <a:moveTo>
                    <a:pt x="0" y="126873"/>
                  </a:moveTo>
                  <a:cubicBezTo>
                    <a:pt x="0" y="56769"/>
                    <a:pt x="56769" y="0"/>
                    <a:pt x="126873" y="0"/>
                  </a:cubicBezTo>
                  <a:lnTo>
                    <a:pt x="9911461" y="0"/>
                  </a:lnTo>
                  <a:cubicBezTo>
                    <a:pt x="9981565" y="0"/>
                    <a:pt x="10038334" y="56769"/>
                    <a:pt x="10038334" y="126873"/>
                  </a:cubicBezTo>
                  <a:lnTo>
                    <a:pt x="10038334" y="4666615"/>
                  </a:lnTo>
                  <a:cubicBezTo>
                    <a:pt x="10038334" y="4736719"/>
                    <a:pt x="9981565" y="4793488"/>
                    <a:pt x="9911461" y="4793488"/>
                  </a:cubicBezTo>
                  <a:lnTo>
                    <a:pt x="126873" y="4793488"/>
                  </a:lnTo>
                  <a:cubicBezTo>
                    <a:pt x="56769" y="4793488"/>
                    <a:pt x="0" y="4736719"/>
                    <a:pt x="0" y="4666615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266" r="-11267"/>
              </a:stretch>
            </a:blip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584569" y="3396701"/>
            <a:ext cx="4212584" cy="273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8"/>
              </a:lnSpc>
            </a:pPr>
            <a:r>
              <a:rPr lang="en-US" sz="1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Step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34600" y="3396701"/>
            <a:ext cx="4212584" cy="273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8"/>
              </a:lnSpc>
            </a:pPr>
            <a:r>
              <a:rPr lang="en-US" sz="1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Detail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84569" y="3904802"/>
            <a:ext cx="4212584" cy="273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8"/>
              </a:lnSpc>
            </a:pPr>
            <a:r>
              <a:rPr lang="en-US" sz="17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Raw Records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34600" y="3904802"/>
            <a:ext cx="4212584" cy="273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8"/>
              </a:lnSpc>
            </a:pPr>
            <a:r>
              <a:rPr lang="en-US" sz="17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533,312 rows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84569" y="4412904"/>
            <a:ext cx="4212584" cy="273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8"/>
              </a:lnSpc>
            </a:pPr>
            <a:r>
              <a:rPr lang="en-US" sz="17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Duplicates Removed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34600" y="4412904"/>
            <a:ext cx="3298184" cy="536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8"/>
              </a:lnSpc>
            </a:pPr>
            <a:r>
              <a:rPr lang="en-US" sz="17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16,264 → </a:t>
            </a:r>
            <a:r>
              <a:rPr lang="en-US" sz="1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517,048 clean records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84569" y="5184724"/>
            <a:ext cx="4212584" cy="273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8"/>
              </a:lnSpc>
            </a:pPr>
            <a:r>
              <a:rPr lang="en-US" sz="17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Outlier Handling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34600" y="5184724"/>
            <a:ext cx="4212584" cy="273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8"/>
              </a:lnSpc>
            </a:pPr>
            <a:r>
              <a:rPr lang="en-US" sz="17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IQR Capping (1.5× IQR rule)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84569" y="5692826"/>
            <a:ext cx="4212584" cy="273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8"/>
              </a:lnSpc>
            </a:pPr>
            <a:r>
              <a:rPr lang="en-US" sz="17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Scaling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34600" y="5692826"/>
            <a:ext cx="4212584" cy="273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8"/>
              </a:lnSpc>
            </a:pPr>
            <a:r>
              <a:rPr lang="en-US" sz="17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StandardScaler (Z-score)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84569" y="6200927"/>
            <a:ext cx="4212584" cy="273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8"/>
              </a:lnSpc>
            </a:pPr>
            <a:r>
              <a:rPr lang="en-US" sz="17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Training Sample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34600" y="6200927"/>
            <a:ext cx="3298184" cy="536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8"/>
              </a:lnSpc>
            </a:pPr>
            <a:r>
              <a:rPr lang="en-US" sz="17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100,000 records (80/20 train-test split)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348978" y="7067255"/>
            <a:ext cx="7519245" cy="1491558"/>
            <a:chOff x="0" y="0"/>
            <a:chExt cx="10025659" cy="198874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025634" cy="1988693"/>
            </a:xfrm>
            <a:custGeom>
              <a:avLst/>
              <a:gdLst/>
              <a:ahLst/>
              <a:cxnLst/>
              <a:rect l="l" t="t" r="r" b="b"/>
              <a:pathLst>
                <a:path w="10025634" h="1988693">
                  <a:moveTo>
                    <a:pt x="0" y="126492"/>
                  </a:moveTo>
                  <a:cubicBezTo>
                    <a:pt x="0" y="56642"/>
                    <a:pt x="56642" y="0"/>
                    <a:pt x="126492" y="0"/>
                  </a:cubicBezTo>
                  <a:lnTo>
                    <a:pt x="9899142" y="0"/>
                  </a:lnTo>
                  <a:cubicBezTo>
                    <a:pt x="9968992" y="0"/>
                    <a:pt x="10025634" y="56642"/>
                    <a:pt x="10025634" y="126492"/>
                  </a:cubicBezTo>
                  <a:lnTo>
                    <a:pt x="10025634" y="1862201"/>
                  </a:lnTo>
                  <a:cubicBezTo>
                    <a:pt x="10025634" y="1932051"/>
                    <a:pt x="9968992" y="1988693"/>
                    <a:pt x="9899142" y="1988693"/>
                  </a:cubicBezTo>
                  <a:lnTo>
                    <a:pt x="126492" y="1988693"/>
                  </a:lnTo>
                  <a:cubicBezTo>
                    <a:pt x="56642" y="1988693"/>
                    <a:pt x="0" y="1932051"/>
                    <a:pt x="0" y="1862201"/>
                  </a:cubicBezTo>
                  <a:close/>
                </a:path>
              </a:pathLst>
            </a:custGeom>
            <a:solidFill>
              <a:srgbClr val="00194D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574902" y="7361339"/>
            <a:ext cx="282331" cy="225923"/>
            <a:chOff x="0" y="0"/>
            <a:chExt cx="376441" cy="301231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376428" cy="301244"/>
            </a:xfrm>
            <a:custGeom>
              <a:avLst/>
              <a:gdLst/>
              <a:ahLst/>
              <a:cxnLst/>
              <a:rect l="l" t="t" r="r" b="b"/>
              <a:pathLst>
                <a:path w="376428" h="301244">
                  <a:moveTo>
                    <a:pt x="0" y="0"/>
                  </a:moveTo>
                  <a:lnTo>
                    <a:pt x="376428" y="0"/>
                  </a:lnTo>
                  <a:lnTo>
                    <a:pt x="376428" y="301244"/>
                  </a:lnTo>
                  <a:lnTo>
                    <a:pt x="0" y="301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" r="-16" b="4"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2083146" y="7276062"/>
            <a:ext cx="6559153" cy="1064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8"/>
              </a:lnSpc>
            </a:pPr>
            <a:r>
              <a:rPr lang="en-US" sz="17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7 Input Features:</a:t>
            </a:r>
            <a:r>
              <a:rPr lang="en-US" sz="1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Pressure · Solar Radiation · Temp Mean/Min/Max · Wind Speed · Wind Bearing</a:t>
            </a:r>
          </a:p>
          <a:p>
            <a:pPr algn="l">
              <a:lnSpc>
                <a:spcPts val="1978"/>
              </a:lnSpc>
            </a:pPr>
            <a:r>
              <a:rPr lang="en-US" sz="17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Target:</a:t>
            </a:r>
            <a:r>
              <a:rPr lang="en-US" sz="1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normalized_label — a hazard index (0–1 scale, shown as 0–100)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429007" y="1885950"/>
            <a:ext cx="7519245" cy="7519245"/>
            <a:chOff x="0" y="0"/>
            <a:chExt cx="10025659" cy="10025659"/>
          </a:xfrm>
        </p:grpSpPr>
        <p:sp>
          <p:nvSpPr>
            <p:cNvPr id="28" name="Freeform 28" descr="preencoded.png"/>
            <p:cNvSpPr/>
            <p:nvPr/>
          </p:nvSpPr>
          <p:spPr>
            <a:xfrm>
              <a:off x="0" y="0"/>
              <a:ext cx="10025634" cy="10025634"/>
            </a:xfrm>
            <a:custGeom>
              <a:avLst/>
              <a:gdLst/>
              <a:ahLst/>
              <a:cxnLst/>
              <a:rect l="l" t="t" r="r" b="b"/>
              <a:pathLst>
                <a:path w="10025634" h="10025634">
                  <a:moveTo>
                    <a:pt x="0" y="0"/>
                  </a:moveTo>
                  <a:lnTo>
                    <a:pt x="10025634" y="0"/>
                  </a:lnTo>
                  <a:lnTo>
                    <a:pt x="10025634" y="10025634"/>
                  </a:lnTo>
                  <a:lnTo>
                    <a:pt x="0" y="10025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45804" y="685648"/>
            <a:ext cx="14454035" cy="954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8"/>
              </a:lnSpc>
            </a:pPr>
            <a:r>
              <a:rPr lang="en-US" sz="5299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The Algorithm: Random Forest Regressor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5804" y="2239270"/>
            <a:ext cx="7868545" cy="7195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6730" lvl="1" indent="-253365" algn="l">
              <a:lnSpc>
                <a:spcPts val="2671"/>
              </a:lnSpc>
              <a:buAutoNum type="arabicPeriod"/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Input — 7 weather parameters are collected (Wind Speed, Temperature, Pressure, Radiation, Wind Bearing)</a:t>
            </a:r>
          </a:p>
          <a:p>
            <a:pPr marL="506730" lvl="1" indent="-253365" algn="l">
              <a:lnSpc>
                <a:spcPts val="2671"/>
              </a:lnSpc>
              <a:buAutoNum type="arabicPeriod"/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Preprocessing — Inputs are normalized using StandardScaler (Z-score) so all features are on the same scale</a:t>
            </a:r>
          </a:p>
          <a:p>
            <a:pPr marL="506730" lvl="1" indent="-253365" algn="l">
              <a:lnSpc>
                <a:spcPts val="2671"/>
              </a:lnSpc>
              <a:buAutoNum type="arabicPeriod"/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Bootstrap Sampling — The dataset is randomly split into 30 subsets (one per tree) with replacement</a:t>
            </a:r>
          </a:p>
          <a:p>
            <a:pPr marL="506730" lvl="1" indent="-253365" algn="l">
              <a:lnSpc>
                <a:spcPts val="2671"/>
              </a:lnSpc>
              <a:buAutoNum type="arabicPeriod"/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Tree Building — Each subset trains its own Decision Tree, using a random selection of features at each split node</a:t>
            </a:r>
          </a:p>
          <a:p>
            <a:pPr marL="506730" lvl="1" indent="-253365" algn="l">
              <a:lnSpc>
                <a:spcPts val="2671"/>
              </a:lnSpc>
              <a:buAutoNum type="arabicPeriod"/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Prediction — Every tree independently predicts a risk score (0–1)</a:t>
            </a:r>
          </a:p>
          <a:p>
            <a:pPr marL="506730" lvl="1" indent="-253365" algn="l">
              <a:lnSpc>
                <a:spcPts val="2671"/>
              </a:lnSpc>
              <a:buAutoNum type="arabicPeriod"/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Aggregation — All 30 tree predictions are averaged into one final output</a:t>
            </a:r>
          </a:p>
          <a:p>
            <a:pPr marL="506730" lvl="1" indent="-253365" algn="l">
              <a:lnSpc>
                <a:spcPts val="2671"/>
              </a:lnSpc>
              <a:buAutoNum type="arabicPeriod"/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Scaling Output — The averaged value is multiplied by 100 to produce the final Hazard Index (0–100)</a:t>
            </a:r>
          </a:p>
          <a:p>
            <a:pPr marL="506730" lvl="1" indent="-253365" algn="l">
              <a:lnSpc>
                <a:spcPts val="2671"/>
              </a:lnSpc>
              <a:buAutoNum type="arabicPeriod"/>
            </a:pP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Classification — Score is categorized with emojis:</a:t>
            </a:r>
          </a:p>
          <a:p>
            <a:pPr marL="506730" lvl="1" indent="-253365" algn="l">
              <a:lnSpc>
                <a:spcPts val="2671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🟢</a:t>
            </a: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0–33 → Low Risk</a:t>
            </a:r>
          </a:p>
          <a:p>
            <a:pPr marL="506730" lvl="1" indent="-253365" algn="l">
              <a:lnSpc>
                <a:spcPts val="2671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🟡</a:t>
            </a: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34–66 → Moderate Risk</a:t>
            </a:r>
          </a:p>
          <a:p>
            <a:pPr marL="506730" lvl="1" indent="-253365" algn="l">
              <a:lnSpc>
                <a:spcPts val="2671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🔴</a:t>
            </a:r>
            <a:r>
              <a:rPr lang="en-US" sz="21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67–100 → High Risk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483176" y="2316356"/>
            <a:ext cx="7868545" cy="5903566"/>
            <a:chOff x="0" y="0"/>
            <a:chExt cx="10491394" cy="7871422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0491343" cy="7871460"/>
            </a:xfrm>
            <a:custGeom>
              <a:avLst/>
              <a:gdLst/>
              <a:ahLst/>
              <a:cxnLst/>
              <a:rect l="l" t="t" r="r" b="b"/>
              <a:pathLst>
                <a:path w="10491343" h="7871460">
                  <a:moveTo>
                    <a:pt x="0" y="0"/>
                  </a:moveTo>
                  <a:lnTo>
                    <a:pt x="10491343" y="0"/>
                  </a:lnTo>
                  <a:lnTo>
                    <a:pt x="10491343" y="7871460"/>
                  </a:lnTo>
                  <a:lnTo>
                    <a:pt x="0" y="7871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2" b="-21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3488827" y="460172"/>
            <a:ext cx="5012236" cy="58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32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Platform Features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3488827" y="1239288"/>
            <a:ext cx="11310337" cy="983456"/>
          </a:xfrm>
          <a:custGeom>
            <a:avLst/>
            <a:gdLst/>
            <a:ahLst/>
            <a:cxnLst/>
            <a:rect l="l" t="t" r="r" b="b"/>
            <a:pathLst>
              <a:path w="11310337" h="983456">
                <a:moveTo>
                  <a:pt x="0" y="0"/>
                </a:moveTo>
                <a:lnTo>
                  <a:pt x="11310337" y="0"/>
                </a:lnTo>
                <a:lnTo>
                  <a:pt x="11310337" y="983456"/>
                </a:lnTo>
                <a:lnTo>
                  <a:pt x="0" y="983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38" b="-339"/>
            </a:stretch>
          </a:blipFill>
        </p:spPr>
      </p:sp>
      <p:sp>
        <p:nvSpPr>
          <p:cNvPr id="8" name="Freeform 8" descr="preencoded.png"/>
          <p:cNvSpPr/>
          <p:nvPr/>
        </p:nvSpPr>
        <p:spPr>
          <a:xfrm>
            <a:off x="3703139" y="1607944"/>
            <a:ext cx="245859" cy="245859"/>
          </a:xfrm>
          <a:custGeom>
            <a:avLst/>
            <a:gdLst/>
            <a:ahLst/>
            <a:cxnLst/>
            <a:rect l="l" t="t" r="r" b="b"/>
            <a:pathLst>
              <a:path w="245859" h="245859">
                <a:moveTo>
                  <a:pt x="0" y="0"/>
                </a:moveTo>
                <a:lnTo>
                  <a:pt x="245859" y="0"/>
                </a:lnTo>
                <a:lnTo>
                  <a:pt x="245859" y="245859"/>
                </a:lnTo>
                <a:lnTo>
                  <a:pt x="0" y="245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921" r="-1925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258123" y="1393631"/>
            <a:ext cx="2048913" cy="294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sz="16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Dashboard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58123" y="1745456"/>
            <a:ext cx="10358142" cy="168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1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Live KPIs and Chart.js risk trend charts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3488827" y="2317404"/>
            <a:ext cx="11310337" cy="983456"/>
          </a:xfrm>
          <a:custGeom>
            <a:avLst/>
            <a:gdLst/>
            <a:ahLst/>
            <a:cxnLst/>
            <a:rect l="l" t="t" r="r" b="b"/>
            <a:pathLst>
              <a:path w="11310337" h="983456">
                <a:moveTo>
                  <a:pt x="0" y="0"/>
                </a:moveTo>
                <a:lnTo>
                  <a:pt x="11310337" y="0"/>
                </a:lnTo>
                <a:lnTo>
                  <a:pt x="11310337" y="983456"/>
                </a:lnTo>
                <a:lnTo>
                  <a:pt x="0" y="983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38" b="-339"/>
            </a:stretch>
          </a:blipFill>
        </p:spPr>
      </p:sp>
      <p:sp>
        <p:nvSpPr>
          <p:cNvPr id="12" name="Freeform 12" descr="preencoded.png"/>
          <p:cNvSpPr/>
          <p:nvPr/>
        </p:nvSpPr>
        <p:spPr>
          <a:xfrm>
            <a:off x="3703139" y="2686050"/>
            <a:ext cx="245859" cy="245859"/>
          </a:xfrm>
          <a:custGeom>
            <a:avLst/>
            <a:gdLst/>
            <a:ahLst/>
            <a:cxnLst/>
            <a:rect l="l" t="t" r="r" b="b"/>
            <a:pathLst>
              <a:path w="245859" h="245859">
                <a:moveTo>
                  <a:pt x="0" y="0"/>
                </a:moveTo>
                <a:lnTo>
                  <a:pt x="245859" y="0"/>
                </a:lnTo>
                <a:lnTo>
                  <a:pt x="245859" y="245859"/>
                </a:lnTo>
                <a:lnTo>
                  <a:pt x="0" y="245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921" b="-1925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258123" y="2471737"/>
            <a:ext cx="2048913" cy="294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sz="16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Risk Calculator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58123" y="2823572"/>
            <a:ext cx="10358142" cy="168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1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7-parameter form → animated 0–100 gauge + AI explanation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3488827" y="3395510"/>
            <a:ext cx="11310337" cy="983456"/>
          </a:xfrm>
          <a:custGeom>
            <a:avLst/>
            <a:gdLst/>
            <a:ahLst/>
            <a:cxnLst/>
            <a:rect l="l" t="t" r="r" b="b"/>
            <a:pathLst>
              <a:path w="11310337" h="983456">
                <a:moveTo>
                  <a:pt x="0" y="0"/>
                </a:moveTo>
                <a:lnTo>
                  <a:pt x="11310337" y="0"/>
                </a:lnTo>
                <a:lnTo>
                  <a:pt x="11310337" y="983456"/>
                </a:lnTo>
                <a:lnTo>
                  <a:pt x="0" y="983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38" b="-339"/>
            </a:stretch>
          </a:blipFill>
        </p:spPr>
      </p:sp>
      <p:sp>
        <p:nvSpPr>
          <p:cNvPr id="16" name="Freeform 16" descr="preencoded.png"/>
          <p:cNvSpPr/>
          <p:nvPr/>
        </p:nvSpPr>
        <p:spPr>
          <a:xfrm>
            <a:off x="3703139" y="3764156"/>
            <a:ext cx="245859" cy="245859"/>
          </a:xfrm>
          <a:custGeom>
            <a:avLst/>
            <a:gdLst/>
            <a:ahLst/>
            <a:cxnLst/>
            <a:rect l="l" t="t" r="r" b="b"/>
            <a:pathLst>
              <a:path w="245859" h="245859">
                <a:moveTo>
                  <a:pt x="0" y="0"/>
                </a:moveTo>
                <a:lnTo>
                  <a:pt x="245859" y="0"/>
                </a:lnTo>
                <a:lnTo>
                  <a:pt x="245859" y="245859"/>
                </a:lnTo>
                <a:lnTo>
                  <a:pt x="0" y="245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4258123" y="3549853"/>
            <a:ext cx="2048913" cy="294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sz="16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5-Day Forecast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58123" y="3901678"/>
            <a:ext cx="10358142" cy="168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1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Multi-output Random Forest predicting risk + weather per day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3488827" y="4473626"/>
            <a:ext cx="11310337" cy="983456"/>
          </a:xfrm>
          <a:custGeom>
            <a:avLst/>
            <a:gdLst/>
            <a:ahLst/>
            <a:cxnLst/>
            <a:rect l="l" t="t" r="r" b="b"/>
            <a:pathLst>
              <a:path w="11310337" h="983456">
                <a:moveTo>
                  <a:pt x="0" y="0"/>
                </a:moveTo>
                <a:lnTo>
                  <a:pt x="11310337" y="0"/>
                </a:lnTo>
                <a:lnTo>
                  <a:pt x="11310337" y="983456"/>
                </a:lnTo>
                <a:lnTo>
                  <a:pt x="0" y="983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38" b="-339"/>
            </a:stretch>
          </a:blipFill>
        </p:spPr>
      </p:sp>
      <p:sp>
        <p:nvSpPr>
          <p:cNvPr id="20" name="Freeform 20" descr="preencoded.png"/>
          <p:cNvSpPr/>
          <p:nvPr/>
        </p:nvSpPr>
        <p:spPr>
          <a:xfrm>
            <a:off x="3703139" y="4842272"/>
            <a:ext cx="245859" cy="245859"/>
          </a:xfrm>
          <a:custGeom>
            <a:avLst/>
            <a:gdLst/>
            <a:ahLst/>
            <a:cxnLst/>
            <a:rect l="l" t="t" r="r" b="b"/>
            <a:pathLst>
              <a:path w="245859" h="245859">
                <a:moveTo>
                  <a:pt x="0" y="0"/>
                </a:moveTo>
                <a:lnTo>
                  <a:pt x="245859" y="0"/>
                </a:lnTo>
                <a:lnTo>
                  <a:pt x="245859" y="245859"/>
                </a:lnTo>
                <a:lnTo>
                  <a:pt x="0" y="245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768" r="-5772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4258123" y="4627959"/>
            <a:ext cx="2048913" cy="294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sz="16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Data Explorer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258123" y="4979794"/>
            <a:ext cx="10358142" cy="168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1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Paginated 517k-row grid with search, sort, filter, CSV/Excel export</a:t>
            </a:r>
          </a:p>
        </p:txBody>
      </p:sp>
      <p:sp>
        <p:nvSpPr>
          <p:cNvPr id="23" name="Freeform 23" descr="preencoded.png"/>
          <p:cNvSpPr/>
          <p:nvPr/>
        </p:nvSpPr>
        <p:spPr>
          <a:xfrm>
            <a:off x="3488827" y="5551732"/>
            <a:ext cx="11310337" cy="983456"/>
          </a:xfrm>
          <a:custGeom>
            <a:avLst/>
            <a:gdLst/>
            <a:ahLst/>
            <a:cxnLst/>
            <a:rect l="l" t="t" r="r" b="b"/>
            <a:pathLst>
              <a:path w="11310337" h="983456">
                <a:moveTo>
                  <a:pt x="0" y="0"/>
                </a:moveTo>
                <a:lnTo>
                  <a:pt x="11310337" y="0"/>
                </a:lnTo>
                <a:lnTo>
                  <a:pt x="11310337" y="983456"/>
                </a:lnTo>
                <a:lnTo>
                  <a:pt x="0" y="983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38" b="-339"/>
            </a:stretch>
          </a:blipFill>
        </p:spPr>
      </p:sp>
      <p:sp>
        <p:nvSpPr>
          <p:cNvPr id="24" name="Freeform 24" descr="preencoded.png"/>
          <p:cNvSpPr/>
          <p:nvPr/>
        </p:nvSpPr>
        <p:spPr>
          <a:xfrm>
            <a:off x="3703139" y="5920378"/>
            <a:ext cx="245859" cy="245859"/>
          </a:xfrm>
          <a:custGeom>
            <a:avLst/>
            <a:gdLst/>
            <a:ahLst/>
            <a:cxnLst/>
            <a:rect l="l" t="t" r="r" b="b"/>
            <a:pathLst>
              <a:path w="245859" h="245859">
                <a:moveTo>
                  <a:pt x="0" y="0"/>
                </a:moveTo>
                <a:lnTo>
                  <a:pt x="245859" y="0"/>
                </a:lnTo>
                <a:lnTo>
                  <a:pt x="245859" y="245859"/>
                </a:lnTo>
                <a:lnTo>
                  <a:pt x="0" y="245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13462" b="-13462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4258123" y="5706075"/>
            <a:ext cx="2048913" cy="294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sz="16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PDF Reports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258123" y="6057900"/>
            <a:ext cx="10358142" cy="168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1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Auto-generated risk assessment PDFs with GPU metadata</a:t>
            </a:r>
          </a:p>
        </p:txBody>
      </p:sp>
      <p:sp>
        <p:nvSpPr>
          <p:cNvPr id="27" name="Freeform 27" descr="preencoded.png"/>
          <p:cNvSpPr/>
          <p:nvPr/>
        </p:nvSpPr>
        <p:spPr>
          <a:xfrm>
            <a:off x="3488827" y="6629848"/>
            <a:ext cx="11310337" cy="983456"/>
          </a:xfrm>
          <a:custGeom>
            <a:avLst/>
            <a:gdLst/>
            <a:ahLst/>
            <a:cxnLst/>
            <a:rect l="l" t="t" r="r" b="b"/>
            <a:pathLst>
              <a:path w="11310337" h="983456">
                <a:moveTo>
                  <a:pt x="0" y="0"/>
                </a:moveTo>
                <a:lnTo>
                  <a:pt x="11310337" y="0"/>
                </a:lnTo>
                <a:lnTo>
                  <a:pt x="11310337" y="983456"/>
                </a:lnTo>
                <a:lnTo>
                  <a:pt x="0" y="983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38" b="-339"/>
            </a:stretch>
          </a:blipFill>
        </p:spPr>
      </p:sp>
      <p:sp>
        <p:nvSpPr>
          <p:cNvPr id="28" name="Freeform 28" descr="preencoded.png"/>
          <p:cNvSpPr/>
          <p:nvPr/>
        </p:nvSpPr>
        <p:spPr>
          <a:xfrm>
            <a:off x="3703139" y="6998494"/>
            <a:ext cx="245859" cy="245859"/>
          </a:xfrm>
          <a:custGeom>
            <a:avLst/>
            <a:gdLst/>
            <a:ahLst/>
            <a:cxnLst/>
            <a:rect l="l" t="t" r="r" b="b"/>
            <a:pathLst>
              <a:path w="245859" h="245859">
                <a:moveTo>
                  <a:pt x="0" y="0"/>
                </a:moveTo>
                <a:lnTo>
                  <a:pt x="245859" y="0"/>
                </a:lnTo>
                <a:lnTo>
                  <a:pt x="245859" y="245859"/>
                </a:lnTo>
                <a:lnTo>
                  <a:pt x="0" y="245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5768" b="-5772"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4258123" y="6784181"/>
            <a:ext cx="2048913" cy="294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sz="16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Security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258123" y="7136006"/>
            <a:ext cx="10358142" cy="168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1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JWT authentication + Admin / User role-based access control</a:t>
            </a:r>
          </a:p>
        </p:txBody>
      </p:sp>
      <p:sp>
        <p:nvSpPr>
          <p:cNvPr id="31" name="Freeform 31" descr="preencoded.png"/>
          <p:cNvSpPr/>
          <p:nvPr/>
        </p:nvSpPr>
        <p:spPr>
          <a:xfrm>
            <a:off x="3488827" y="7707954"/>
            <a:ext cx="11310337" cy="983456"/>
          </a:xfrm>
          <a:custGeom>
            <a:avLst/>
            <a:gdLst/>
            <a:ahLst/>
            <a:cxnLst/>
            <a:rect l="l" t="t" r="r" b="b"/>
            <a:pathLst>
              <a:path w="11310337" h="983456">
                <a:moveTo>
                  <a:pt x="0" y="0"/>
                </a:moveTo>
                <a:lnTo>
                  <a:pt x="11310337" y="0"/>
                </a:lnTo>
                <a:lnTo>
                  <a:pt x="11310337" y="983456"/>
                </a:lnTo>
                <a:lnTo>
                  <a:pt x="0" y="983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38" b="-339"/>
            </a:stretch>
          </a:blipFill>
        </p:spPr>
      </p:sp>
      <p:sp>
        <p:nvSpPr>
          <p:cNvPr id="32" name="Freeform 32" descr="preencoded.png"/>
          <p:cNvSpPr/>
          <p:nvPr/>
        </p:nvSpPr>
        <p:spPr>
          <a:xfrm>
            <a:off x="3703139" y="8076600"/>
            <a:ext cx="245859" cy="245859"/>
          </a:xfrm>
          <a:custGeom>
            <a:avLst/>
            <a:gdLst/>
            <a:ahLst/>
            <a:cxnLst/>
            <a:rect l="l" t="t" r="r" b="b"/>
            <a:pathLst>
              <a:path w="245859" h="245859">
                <a:moveTo>
                  <a:pt x="0" y="0"/>
                </a:moveTo>
                <a:lnTo>
                  <a:pt x="245859" y="0"/>
                </a:lnTo>
                <a:lnTo>
                  <a:pt x="245859" y="245859"/>
                </a:lnTo>
                <a:lnTo>
                  <a:pt x="0" y="245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921" r="-1925"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4258123" y="7862297"/>
            <a:ext cx="2048913" cy="294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sz="16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Admin Panel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58123" y="8214122"/>
            <a:ext cx="10358142" cy="168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1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Trigger retraining from UI · Audit logs · GPU diagnostics (H200)</a:t>
            </a:r>
          </a:p>
        </p:txBody>
      </p:sp>
      <p:sp>
        <p:nvSpPr>
          <p:cNvPr id="35" name="Freeform 35" descr="preencoded.png"/>
          <p:cNvSpPr/>
          <p:nvPr/>
        </p:nvSpPr>
        <p:spPr>
          <a:xfrm>
            <a:off x="3488827" y="8786070"/>
            <a:ext cx="11310337" cy="983456"/>
          </a:xfrm>
          <a:custGeom>
            <a:avLst/>
            <a:gdLst/>
            <a:ahLst/>
            <a:cxnLst/>
            <a:rect l="l" t="t" r="r" b="b"/>
            <a:pathLst>
              <a:path w="11310337" h="983456">
                <a:moveTo>
                  <a:pt x="0" y="0"/>
                </a:moveTo>
                <a:lnTo>
                  <a:pt x="11310337" y="0"/>
                </a:lnTo>
                <a:lnTo>
                  <a:pt x="11310337" y="983456"/>
                </a:lnTo>
                <a:lnTo>
                  <a:pt x="0" y="983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38" b="-339"/>
            </a:stretch>
          </a:blipFill>
        </p:spPr>
      </p:sp>
      <p:sp>
        <p:nvSpPr>
          <p:cNvPr id="36" name="Freeform 36" descr="preencoded.png"/>
          <p:cNvSpPr/>
          <p:nvPr/>
        </p:nvSpPr>
        <p:spPr>
          <a:xfrm>
            <a:off x="3703139" y="9154716"/>
            <a:ext cx="245859" cy="245859"/>
          </a:xfrm>
          <a:custGeom>
            <a:avLst/>
            <a:gdLst/>
            <a:ahLst/>
            <a:cxnLst/>
            <a:rect l="l" t="t" r="r" b="b"/>
            <a:pathLst>
              <a:path w="245859" h="245859">
                <a:moveTo>
                  <a:pt x="0" y="0"/>
                </a:moveTo>
                <a:lnTo>
                  <a:pt x="245859" y="0"/>
                </a:lnTo>
                <a:lnTo>
                  <a:pt x="245859" y="245859"/>
                </a:lnTo>
                <a:lnTo>
                  <a:pt x="0" y="245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30768" b="-30772"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4258123" y="8940403"/>
            <a:ext cx="2048913" cy="294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sz="16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PWA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258123" y="9292228"/>
            <a:ext cx="10358142" cy="168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1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Offline-capable via Service Worker caching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76300"/>
            <a:ext cx="8002638" cy="1007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sz="55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554043"/>
            <a:ext cx="4458443" cy="498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Real-World Uses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954138" y="3333598"/>
            <a:ext cx="3763861" cy="2017957"/>
          </a:xfrm>
          <a:custGeom>
            <a:avLst/>
            <a:gdLst/>
            <a:ahLst/>
            <a:cxnLst/>
            <a:rect l="l" t="t" r="r" b="b"/>
            <a:pathLst>
              <a:path w="3763861" h="2017957">
                <a:moveTo>
                  <a:pt x="0" y="0"/>
                </a:moveTo>
                <a:lnTo>
                  <a:pt x="3763861" y="0"/>
                </a:lnTo>
                <a:lnTo>
                  <a:pt x="3763861" y="2017957"/>
                </a:lnTo>
                <a:lnTo>
                  <a:pt x="0" y="20179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3" r="-73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51950" y="3333598"/>
            <a:ext cx="3366049" cy="498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🌾</a:t>
            </a: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 Agriculture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1950" y="4077738"/>
            <a:ext cx="3366049" cy="775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Predict wind &amp; heat harvest risk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5034258" y="3333598"/>
            <a:ext cx="3763861" cy="2017957"/>
          </a:xfrm>
          <a:custGeom>
            <a:avLst/>
            <a:gdLst/>
            <a:ahLst/>
            <a:cxnLst/>
            <a:rect l="l" t="t" r="r" b="b"/>
            <a:pathLst>
              <a:path w="3763861" h="2017957">
                <a:moveTo>
                  <a:pt x="0" y="0"/>
                </a:moveTo>
                <a:lnTo>
                  <a:pt x="3763861" y="0"/>
                </a:lnTo>
                <a:lnTo>
                  <a:pt x="3763861" y="2017957"/>
                </a:lnTo>
                <a:lnTo>
                  <a:pt x="0" y="20179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3" r="-73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432079" y="3333598"/>
            <a:ext cx="3366049" cy="959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🚨</a:t>
            </a: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 Emergency Services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32079" y="4538367"/>
            <a:ext cx="3366049" cy="775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Storm early-warning system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954138" y="5842397"/>
            <a:ext cx="7843990" cy="1188844"/>
          </a:xfrm>
          <a:custGeom>
            <a:avLst/>
            <a:gdLst/>
            <a:ahLst/>
            <a:cxnLst/>
            <a:rect l="l" t="t" r="r" b="b"/>
            <a:pathLst>
              <a:path w="7843990" h="1188844">
                <a:moveTo>
                  <a:pt x="0" y="0"/>
                </a:moveTo>
                <a:lnTo>
                  <a:pt x="7843990" y="0"/>
                </a:lnTo>
                <a:lnTo>
                  <a:pt x="7843990" y="1188844"/>
                </a:lnTo>
                <a:lnTo>
                  <a:pt x="0" y="11888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45" b="-45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351950" y="5842397"/>
            <a:ext cx="3544043" cy="498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🏗️</a:t>
            </a:r>
            <a:r>
              <a:rPr lang="en-US" sz="27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 Infrastructure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1950" y="6586538"/>
            <a:ext cx="7446169" cy="406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Construction safety during extreme weather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99406" y="2554043"/>
            <a:ext cx="4458443" cy="498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Current Limitations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99406" y="3298184"/>
            <a:ext cx="7805890" cy="874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2851"/>
              </a:lnSpc>
              <a:buFont typeface="Arial"/>
              <a:buChar char="•"/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Fixed geographic dataset (not global yet)</a:t>
            </a:r>
          </a:p>
          <a:p>
            <a:pPr marL="530860" lvl="1" indent="-265430" algn="l">
              <a:lnSpc>
                <a:spcPts val="2851"/>
              </a:lnSpc>
              <a:buFont typeface="Arial"/>
              <a:buChar char="•"/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Flat-file database (not production-scale)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99406" y="4417809"/>
            <a:ext cx="4458443" cy="498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Future Work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99406" y="5161950"/>
            <a:ext cx="7805890" cy="1341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2851"/>
              </a:lnSpc>
              <a:buFont typeface="Arial"/>
              <a:buChar char="•"/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Live weather API integration (OpenWeatherMap / NOAA)</a:t>
            </a:r>
          </a:p>
          <a:p>
            <a:pPr marL="530860" lvl="1" indent="-265430" algn="l">
              <a:lnSpc>
                <a:spcPts val="2851"/>
              </a:lnSpc>
              <a:buFont typeface="Arial"/>
              <a:buChar char="•"/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LSTM / Transformer models for better forecasting</a:t>
            </a:r>
          </a:p>
          <a:p>
            <a:pPr marL="530860" lvl="1" indent="-265430" algn="l">
              <a:lnSpc>
                <a:spcPts val="2851"/>
              </a:lnSpc>
              <a:buFont typeface="Arial"/>
              <a:buChar char="•"/>
            </a:pP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Cloud deployment (GCP / AWS) + mobile push alerts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17444" y="7911856"/>
            <a:ext cx="15878327" cy="775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20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Key Result:</a:t>
            </a: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Random Forest achieved </a:t>
            </a:r>
            <a:r>
              <a:rPr lang="en-US" sz="2200" b="1">
                <a:solidFill>
                  <a:srgbClr val="FF6BD8"/>
                </a:solidFill>
                <a:latin typeface="Arimo Bold"/>
                <a:ea typeface="Arimo Bold"/>
                <a:cs typeface="Arimo Bold"/>
                <a:sym typeface="Arimo Bold"/>
              </a:rPr>
              <a:t>89.27% accuracy (R²)</a:t>
            </a:r>
            <a:r>
              <a:rPr lang="en-US" sz="22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on 517,048 real climate records — turning raw weather data into life-saving risk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PRESIDENCY-UNIVERSITY (1).pptx</dc:title>
  <cp:lastModifiedBy>Mohamed Fahad</cp:lastModifiedBy>
  <cp:revision>2</cp:revision>
  <dcterms:created xsi:type="dcterms:W3CDTF">2006-08-16T00:00:00Z</dcterms:created>
  <dcterms:modified xsi:type="dcterms:W3CDTF">2026-08-03T17:04:20Z</dcterms:modified>
  <dc:identifier>DAHMPZq0lJ0</dc:identifier>
</cp:coreProperties>
</file>