
<file path=[Content_Types].xml><?xml version="1.0" encoding="utf-8"?>
<Types xmlns="http://schemas.openxmlformats.org/package/2006/content-types"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sldIdLst>
    <p:sldId id="483" r:id="rId3"/>
    <p:sldId id="484" r:id="rId5"/>
    <p:sldId id="470" r:id="rId6"/>
    <p:sldId id="478" r:id="rId7"/>
    <p:sldId id="482" r:id="rId8"/>
    <p:sldId id="486" r:id="rId9"/>
    <p:sldId id="488" r:id="rId10"/>
    <p:sldId id="485" r:id="rId11"/>
    <p:sldId id="487" r:id="rId12"/>
    <p:sldId id="473" r:id="rId13"/>
    <p:sldId id="468" r:id="rId14"/>
  </p:sldIdLst>
  <p:sldSz cx="12192000" cy="6858000"/>
  <p:notesSz cx="6954520" cy="93091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2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71180"/>
    <a:srgbClr val="FF3300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147" autoAdjust="0"/>
    <p:restoredTop sz="94434" autoAdjust="0"/>
  </p:normalViewPr>
  <p:slideViewPr>
    <p:cSldViewPr snapToGrid="0" showGuides="1">
      <p:cViewPr varScale="1">
        <p:scale>
          <a:sx n="68" d="100"/>
          <a:sy n="68" d="100"/>
        </p:scale>
        <p:origin x="936" y="78"/>
      </p:cViewPr>
      <p:guideLst>
        <p:guide orient="horz" pos="212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893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40175" y="0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5AA20220-E8D3-4BE8-9E9D-D5B982467646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63638"/>
            <a:ext cx="5583238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30" tIns="46465" rIns="92930" bIns="46465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325" y="4479925"/>
            <a:ext cx="5564188" cy="3665538"/>
          </a:xfrm>
          <a:prstGeom prst="rect">
            <a:avLst/>
          </a:prstGeom>
        </p:spPr>
        <p:txBody>
          <a:bodyPr vert="horz" lIns="92930" tIns="46465" rIns="92930" bIns="46465" rtlCol="0"/>
          <a:lstStyle/>
          <a:p>
            <a:pPr lvl="0"/>
            <a:r>
              <a:rPr lang="en-US" noProof="0"/>
              <a:t>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375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40175" y="8842375"/>
            <a:ext cx="3013075" cy="466725"/>
          </a:xfrm>
          <a:prstGeom prst="rect">
            <a:avLst/>
          </a:prstGeom>
        </p:spPr>
        <p:txBody>
          <a:bodyPr vert="horz" wrap="square" lIns="92930" tIns="46465" rIns="92930" bIns="46465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6A1ABE2-8A9C-4371-A477-2D85B6949ADB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984284-C742-4CDE-BCD1-55F1EACCE4BD}" type="datetime1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AC8F4A-8BCF-4389-A68F-ABDBB8A38460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 spd="slow">
    <p:blinds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400D6F-81A6-4CA0-8B3C-34372C62B661}" type="datetime1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5EC703-C051-410C-8BA1-62752E291E83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 spd="slow">
    <p:blinds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3234D9-D072-4920-821D-BED01FCB7247}" type="datetime1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A17B78-0E85-43B3-B804-1DD2F629C182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 spd="slow">
    <p:blinds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A9FD15-50EB-4E55-A7AC-5D569B5B3C80}" type="datetime1">
              <a:rPr lang="en-US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0EC4D6-2A5D-45C1-86E3-8BE19A62D209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 spd="slow">
    <p:blinds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50B61E-D197-4188-943F-30B5936FC2F9}" type="datetime1">
              <a:rPr lang="en-US"/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F6C894-F542-45DE-85A4-2725CE924991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 spd="slow">
    <p:blinds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D41E7F-6671-4D2D-B6AD-20E102447CE3}" type="datetime1">
              <a:rPr lang="en-US"/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9318FD-4EEC-4C57-A972-0B24B85155E4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 spd="slow">
    <p:blinds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E11748-68B0-424D-A128-8EE4A2F1567E}" type="datetime1">
              <a:rPr lang="en-US"/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195F4C-44D2-4F45-A0AC-21646A9D27BF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 spd="slow">
    <p:blinds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94E8B7-7DCF-4AE2-ACBE-26DA6EBB7347}" type="datetime1">
              <a:rPr lang="en-US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D429D7-E526-4101-969E-B40B8D8E48CC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 spd="slow">
    <p:blinds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8AEAC7-C2C3-44AF-AB2E-36A1774D5378}" type="datetime1">
              <a:rPr lang="en-US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6FD7F1-16F9-4E12-83AD-C4245146BA57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 spd="slow">
    <p:blinds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02336F-006F-49C3-8FF0-2416E12056BA}" type="datetime1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CA2AFE-CAB8-4467-80DC-C3A4FC1E2718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 spd="slow">
    <p:blinds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683BFA-96BB-4329-BF2F-32F59AFA4E79}" type="datetime1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DD8426-6957-4B5B-B927-2BE994D1B7C1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 spd="slow">
    <p:blinds dir="vert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Third level</a:t>
            </a:r>
            <a:endParaRPr lang="en-US" altLang="en-US"/>
          </a:p>
          <a:p>
            <a:pPr lvl="3"/>
            <a:r>
              <a:rPr lang="en-US" altLang="en-US"/>
              <a:t>Fourth level</a:t>
            </a:r>
            <a:endParaRPr lang="en-US" altLang="en-US"/>
          </a:p>
          <a:p>
            <a:pPr lvl="4"/>
            <a:r>
              <a:rPr lang="en-US" altLang="en-US"/>
              <a:t>Fifth level</a:t>
            </a:r>
            <a:endParaRPr lang="en-US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46687D5-4D00-474F-82B8-FCFBD98170F5}" type="datetime1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ADBF7CE3-29D9-4203-A481-45960E76618F}" type="slidenum">
              <a:rPr lang="en-US" altLang="en-US"/>
            </a:fld>
            <a:endParaRPr lang="en-US" altLang="en-US"/>
          </a:p>
        </p:txBody>
      </p:sp>
      <p:pic>
        <p:nvPicPr>
          <p:cNvPr id="1031" name="Picture 7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153025"/>
            <a:ext cx="12192000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blinds dir="vert"/>
  </p:transition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w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2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Under the </a:t>
            </a:r>
            <a:r>
              <a:rPr lang="en-GB" sz="2000" b="1" i="0" u="none" strike="noStrike" cap="none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Supervision</a:t>
            </a: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Ms.</a:t>
            </a:r>
            <a:r>
              <a:rPr lang="en-IN" alt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Shet Reshma Prakash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Presidency 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86072" y="4088074"/>
            <a:ext cx="12009870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Program: </a:t>
            </a:r>
            <a:r>
              <a:rPr lang="en-IN" altLang="en-US" sz="20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Computer Science And Technology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HoD: </a:t>
            </a:r>
            <a:r>
              <a:rPr lang="en-IN" alt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Pallavi R.</a:t>
            </a:r>
            <a:endParaRPr lang="en-US" sz="2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 Internship Coordinator: </a:t>
            </a:r>
            <a:r>
              <a:rPr lang="en-IN" altLang="en-US" sz="20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Mr.Saptarsi Sanyal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School Internship Coordinators: 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Bhuvaneshwari Patil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CSE7000 -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Presentation on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TITLE OF THE INTERNSHIP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01909" y="1911875"/>
          <a:ext cx="4884491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/>
                <a:gridCol w="3513221"/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cPr/>
                </a:tc>
              </a:tr>
              <a:tr h="264160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alt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MOHAMED FAHAD</a:t>
                      </a:r>
                      <a:endParaRPr lang="en-IN" alt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alt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20241CSG0033</a:t>
                      </a:r>
                      <a:endParaRPr lang="en-IN" alt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alt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5CSG02</a:t>
                      </a:r>
                      <a:endParaRPr lang="en-IN" alt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slow">
    <p:blinds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78759" y="762138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  <a:endParaRPr lang="en-US" sz="2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  <a:endParaRPr lang="en-IN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Used / Course Description</a:t>
            </a:r>
            <a:endParaRPr lang="en-IN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Results (Optional)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Conclusion</a:t>
            </a:r>
            <a:endParaRPr lang="en-IN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blinds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3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NVIDIA</a:t>
            </a:r>
            <a:r>
              <a:rPr lang="en-IN" altLang="en-US" sz="23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US" sz="23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NVIDIA 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global technology company and a leader in accelerated computing, artificial intelligence (AI), and graphics processing technologies.</a:t>
            </a:r>
            <a:endPara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Founded:1993</a:t>
            </a:r>
            <a:endPara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Headquarters:</a:t>
            </a:r>
            <a:r>
              <a:rPr lang="en-IN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Santa Clara, California, USA</a:t>
            </a:r>
            <a:endPara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Known for: High-performance GPUs, AI platforms, and accelerated computing</a:t>
            </a:r>
            <a:endPara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Technologies: CUDA, GeForce, RTX, NVIDIA DGX</a:t>
            </a:r>
            <a:endPara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Applications:</a:t>
            </a:r>
            <a:r>
              <a:rPr lang="en-IN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AI, gaming, data centers, robotics, autonomous vehicles, healthcare, and scientific research</a:t>
            </a:r>
            <a:endPara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Presence:</a:t>
            </a:r>
            <a:r>
              <a:rPr lang="en-IN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Serves customers and partners in over 100 countries</a:t>
            </a:r>
            <a:endPara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p:transition spd="slow">
    <p:blinds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algn="just"/>
            <a:r>
              <a:rPr lang="en-US" altLang="en-US" sz="25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Assigned Domain:</a:t>
            </a: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Environmental Informatics, Climate Risk Predictive Modeling, and Full-Stack Engineering.</a:t>
            </a: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5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Web Stack:</a:t>
            </a: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Node.js, Express.js REST APIs, JWT authentication, SQLite, and PDFKit report generation.</a:t>
            </a: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5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Pipeline:</a:t>
            </a: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Python-based preprocessing (imputation, IQR outlier capping), StandardScaler, and Random Forest regressors.</a:t>
            </a: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5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Integration Layer:</a:t>
            </a: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 subprocess hooks querying PyTorch CUDA and nvidia-smi diagnostics on NVIDIA H200 Tensor Core GPUs.</a:t>
            </a: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p:transition spd="slow">
    <p:blinds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algn="just"/>
            <a:r>
              <a:rPr lang="en-US" altLang="en-US" sz="23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Large-scale Meteorological Data Engineering: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 and clean a raw weather dataset containing over 530,000 meteorological records (Combined12.csv) using robust preprocessing pipelines.</a:t>
            </a:r>
            <a:endPara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3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ML Training &amp; Model Selection: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 a multi-algorithm regression pipeline (Linear Regression baseline, Gradient Boosting, and Random Forest) that dynamically evaluates and deploys the best performing estimator.</a:t>
            </a:r>
            <a:endPara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3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Autoregressive Environmental Forecasting: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Build a multi-output time-series forecaster leveraging historical weather parameters as sequential lags to predict 5 days of future environmental parameters and risk indices.</a:t>
            </a:r>
            <a:endPara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3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Enterprise-Grade Analytical Dashboard: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 a secure Express.js server providing paginated data grids, real-time Chart.js visual telemetry, JWT session control, and persistent action audit logs.</a:t>
            </a:r>
            <a:endPara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p:transition spd="slow">
    <p:blinds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Used / Course Description 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marL="0" indent="0" algn="just">
              <a:buNone/>
            </a:pPr>
            <a:r>
              <a:rPr lang="en-US" altLang="en-US" sz="2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Methodology: Data Pipeline &amp; Model Training</a:t>
            </a:r>
            <a:endParaRPr lang="en-US" altLang="en-US" sz="26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&amp; Validation: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Cleaned 533,312 raw climate records by imputing missing values with column-wise averages and removing duplicate rows to prevent statistical leakage.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 Engineering (IQR Capping):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Detected environmental anomalies across all 7 features and capped extreme values outside the 1.5x Interquartile Range (IQR) boundary.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Normalization &amp; Partition: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Applied StandardScaler to bring meteorological parameters to a uniform scale. Partitioned the data into an 80/20 train/test split.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 Training &amp; Serialization: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Trained and compared candidates on standardized features. Automatically serialized the highest-performing regressor (Random Forest, R2 = 89.27%) to best_model.pkl.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p:transition spd="slow">
    <p:blinds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Used / Course Description 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3230" y="1184367"/>
            <a:ext cx="10515600" cy="4058194"/>
          </a:xfrm>
        </p:spPr>
        <p:txBody>
          <a:bodyPr/>
          <a:lstStyle/>
          <a:p>
            <a:pPr marL="457200" lvl="1" indent="0" algn="l">
              <a:buNone/>
            </a:pPr>
            <a:r>
              <a:rPr lang="en-US" altLang="en-US" sz="2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Forecaster &amp; System Architecture</a:t>
            </a:r>
            <a:r>
              <a:rPr lang="en-IN" altLang="en-US" sz="2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altLang="en-US" sz="26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en-US" altLang="en-US" sz="21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5-Day Autoregressive Forecaster: 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multi-step future targets by shifting meteorological features back by 1 to 5 days. Fitted a multi-output Random Forest regressor to project future weather vectors.</a:t>
            </a:r>
            <a:endParaRPr lang="en-US" alt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en-US" altLang="en-US" sz="21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JWT Authentication Gateways: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Established secure user authentication pathways using bcrypt password hashing. Issued stateless JSON Web Tokens (JWT) to authorize data and forecast API access.</a:t>
            </a:r>
            <a:endParaRPr lang="en-US" alt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en-US" altLang="en-US" sz="21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PDF Report Compilation Engine: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Created a backend endpoint using PDFKit to dynamically compile environmental parameters, confidence metrics, and AI risk descriptions into a professional report.</a:t>
            </a:r>
            <a:endParaRPr lang="en-US" alt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en-US" altLang="en-US" sz="21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 Diagnostic Interface: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Integrated a sub-process prober (check_hardware.py) querying local nvidia-smi hooks to display GPU acceleration status on the dashboard in real-time.</a:t>
            </a:r>
            <a:endParaRPr lang="en-US" alt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p:transition spd="slow">
    <p:blinds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lang="en-I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alt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  <p:sp>
        <p:nvSpPr>
          <p:cNvPr id="3" name="Content Placeholder 2"/>
          <p:cNvSpPr/>
          <p:nvPr>
            <p:ph idx="1"/>
          </p:nvPr>
        </p:nvSpPr>
        <p:spPr>
          <a:xfrm>
            <a:off x="838200" y="866140"/>
            <a:ext cx="10515600" cy="4351338"/>
          </a:xfrm>
        </p:spPr>
        <p:txBody>
          <a:bodyPr/>
          <a:p>
            <a:pPr marL="0" indent="0">
              <a:buNone/>
            </a:pPr>
            <a:r>
              <a:rPr lang="en-US" altLang="en-US" sz="2300" b="1" u="sng"/>
              <a:t>Model Training Results:</a:t>
            </a:r>
            <a:endParaRPr lang="en-US" altLang="en-US" sz="2300" b="1" u="sng"/>
          </a:p>
          <a:p>
            <a:r>
              <a:rPr lang="en-US" altLang="en-US" sz="1800"/>
              <a:t>Random Forest Regressor (Selected): R2 = 89.27% (RMSE = 0.3285, MAE = 0.2363)</a:t>
            </a:r>
            <a:endParaRPr lang="en-US" altLang="en-US" sz="1800"/>
          </a:p>
          <a:p>
            <a:r>
              <a:rPr lang="en-US" altLang="en-US" sz="1800"/>
              <a:t>Gradient Boosting Regressor: R2 = 86.14% (RMSE = 0.3734, MAE = 0.2928)</a:t>
            </a:r>
            <a:endParaRPr lang="en-US" altLang="en-US" sz="1800"/>
          </a:p>
          <a:p>
            <a:r>
              <a:rPr lang="en-US" altLang="en-US" sz="1800"/>
              <a:t>Linear Regression (Baseline): R2 = 59.45% (RMSE = 0.6388, MAE = 0.5199)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2300" b="1" u="sng"/>
              <a:t>Feature Importance Weights:</a:t>
            </a:r>
            <a:endParaRPr lang="en-US" altLang="en-US" sz="2300" b="1" u="sng"/>
          </a:p>
          <a:p>
            <a:r>
              <a:rPr lang="en-US" altLang="en-US" sz="1800"/>
              <a:t>Maximum temperature (temp_max): ~28%</a:t>
            </a:r>
            <a:endParaRPr lang="en-US" altLang="en-US" sz="1800"/>
          </a:p>
          <a:p>
            <a:r>
              <a:rPr lang="en-US" altLang="en-US" sz="1800"/>
              <a:t>Mean temperature (temp_mean): ~26%</a:t>
            </a:r>
            <a:endParaRPr lang="en-US" altLang="en-US" sz="1800"/>
          </a:p>
          <a:p>
            <a:r>
              <a:rPr lang="en-US" altLang="en-US" sz="1800"/>
              <a:t>Minimum temperature (temp_min): ~21%</a:t>
            </a:r>
            <a:endParaRPr lang="en-US" altLang="en-US" sz="1800"/>
          </a:p>
          <a:p>
            <a:r>
              <a:rPr lang="en-US" altLang="en-US" sz="1800"/>
              <a:t>Global Radiation: ~11% | Pressure: ~10% | Wind Speed &amp; Bearing: ~5%</a:t>
            </a:r>
            <a:endParaRPr lang="en-US" altLang="en-US" sz="1800"/>
          </a:p>
          <a:p>
            <a:r>
              <a:rPr lang="en-US" altLang="en-US" sz="1800"/>
              <a:t>5-Day Forecast Performance: Multi-output forecaster achieved a mean R2 score of 0.5596 across all horizons.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System Verification: Verified CUDA deployment on NVIDIA H200 Tensor Core GPU, achieving low-latency risk predictions. Automated PDF reports correctly rendered environmental parameters and AI text explanations.</a:t>
            </a:r>
            <a:endParaRPr lang="en-US" altLang="en-US" sz="1800"/>
          </a:p>
        </p:txBody>
      </p:sp>
    </p:spTree>
  </p:cSld>
  <p:clrMapOvr>
    <a:masterClrMapping/>
  </p:clrMapOvr>
  <p:transition spd="slow">
    <p:blinds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I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alt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943" y="96160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3400" b="1" u="sng" dirty="0"/>
              <a:t>Summary of Learnings:</a:t>
            </a:r>
            <a:endParaRPr lang="en-US" altLang="en-US" sz="3400" b="1" u="sng" dirty="0"/>
          </a:p>
          <a:p>
            <a:r>
              <a:rPr lang="en-US" altLang="en-US" sz="2300" dirty="0"/>
              <a:t>Built a production-grade full-stack climate intelligence portal with real-time ML risk scoring.</a:t>
            </a:r>
            <a:endParaRPr lang="en-US" altLang="en-US" sz="2300" dirty="0"/>
          </a:p>
          <a:p>
            <a:r>
              <a:rPr lang="en-US" altLang="en-US" sz="2300" dirty="0"/>
              <a:t>Implemented high-accuracy models (Random Forest, ~89.3% accuracy) running on local GPUs.</a:t>
            </a:r>
            <a:endParaRPr lang="en-US" altLang="en-US" sz="2300" dirty="0"/>
          </a:p>
          <a:p>
            <a:r>
              <a:rPr lang="en-US" altLang="en-US" sz="2300" dirty="0"/>
              <a:t>Delivered secure authentication (JWT), dynamic weather forecasting, and automated PDF downloads.</a:t>
            </a:r>
            <a:endParaRPr lang="en-US" altLang="en-US" sz="2300" dirty="0"/>
          </a:p>
          <a:p>
            <a:r>
              <a:rPr lang="en-US" altLang="en-US" sz="2300" dirty="0"/>
              <a:t>Worked with GPU-aware sub-processes for fast model inference and diagnostic reporting.</a:t>
            </a:r>
            <a:endParaRPr lang="en-US" altLang="en-US" sz="2300" dirty="0"/>
          </a:p>
          <a:p>
            <a:r>
              <a:rPr lang="en-US" altLang="en-US" sz="2300" dirty="0"/>
              <a:t>Gained hands-on experience in full-stack engineering, machine learning workflows, and system integration.</a:t>
            </a:r>
            <a:endParaRPr lang="en-US" altLang="en-US" sz="2300" dirty="0"/>
          </a:p>
        </p:txBody>
      </p:sp>
    </p:spTree>
  </p:cSld>
  <p:clrMapOvr>
    <a:masterClrMapping/>
  </p:clrMapOvr>
  <p:transition spd="slow">
    <p:blinds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  <a:endParaRPr lang="en-US" sz="6600" dirty="0">
              <a:solidFill>
                <a:schemeClr val="accent2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blinds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p:transition spd="slow">
    <p:blinds dir="vert"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5459</Words>
  <Application>WPS Presentation</Application>
  <PresentationFormat>Widescreen</PresentationFormat>
  <Paragraphs>128</Paragraphs>
  <Slides>11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4" baseType="lpstr">
      <vt:lpstr>Arial</vt:lpstr>
      <vt:lpstr>SimSun</vt:lpstr>
      <vt:lpstr>Wingdings</vt:lpstr>
      <vt:lpstr>Calibri</vt:lpstr>
      <vt:lpstr>Calibri Light</vt:lpstr>
      <vt:lpstr>Arial</vt:lpstr>
      <vt:lpstr>Cambria</vt:lpstr>
      <vt:lpstr>Verdana</vt:lpstr>
      <vt:lpstr>Times New Roman</vt:lpstr>
      <vt:lpstr>Tahoma</vt:lpstr>
      <vt:lpstr>Microsoft YaHei</vt:lpstr>
      <vt:lpstr>Arial Unicode MS</vt:lpstr>
      <vt:lpstr>Office Theme</vt:lpstr>
      <vt:lpstr>PowerPoint 演示文稿</vt:lpstr>
      <vt:lpstr>Content</vt:lpstr>
      <vt:lpstr>About Company or Organization</vt:lpstr>
      <vt:lpstr>Working domain or the technology</vt:lpstr>
      <vt:lpstr>Objectives of the work</vt:lpstr>
      <vt:lpstr>Methodology Used / Course Description </vt:lpstr>
      <vt:lpstr>Methodology Used / Course Description </vt:lpstr>
      <vt:lpstr>Results:</vt:lpstr>
      <vt:lpstr>Conclusion: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Preeteesh</dc:creator>
  <cp:lastModifiedBy>Sumup</cp:lastModifiedBy>
  <cp:revision>946</cp:revision>
  <cp:lastPrinted>2018-07-24T06:37:00Z</cp:lastPrinted>
  <dcterms:created xsi:type="dcterms:W3CDTF">2018-06-07T04:06:00Z</dcterms:created>
  <dcterms:modified xsi:type="dcterms:W3CDTF">2026-08-07T15:22:48Z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081A16B029B1402A9125F4FD7A7919F7_13</vt:lpwstr>
  </property>
</Properties>
</file>